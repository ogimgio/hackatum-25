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6" r:id="rId5"/>
    <p:sldId id="275" r:id="rId6"/>
    <p:sldId id="267" r:id="rId7"/>
    <p:sldId id="274" r:id="rId8"/>
    <p:sldId id="271" r:id="rId9"/>
    <p:sldId id="270" r:id="rId10"/>
    <p:sldId id="272" r:id="rId11"/>
    <p:sldId id="273" r:id="rId12"/>
    <p:sldId id="261" r:id="rId13"/>
    <p:sldId id="277" r:id="rId14"/>
    <p:sldId id="276" r:id="rId15"/>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200"/>
    <a:srgbClr val="172227"/>
    <a:srgbClr val="F081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94719"/>
  </p:normalViewPr>
  <p:slideViewPr>
    <p:cSldViewPr snapToGrid="0">
      <p:cViewPr>
        <p:scale>
          <a:sx n="102" d="100"/>
          <a:sy n="102" d="100"/>
        </p:scale>
        <p:origin x="800"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0811D-9E23-B54A-9417-62F5E0563DD6}" type="datetimeFigureOut">
              <a:rPr lang="en-CH" smtClean="0"/>
              <a:t>22.11.2025</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68C55-1B91-784C-886F-7AD07734CCBB}" type="slidenum">
              <a:rPr lang="en-CH" smtClean="0"/>
              <a:t>‹#›</a:t>
            </a:fld>
            <a:endParaRPr lang="en-CH"/>
          </a:p>
        </p:txBody>
      </p:sp>
    </p:spTree>
    <p:extLst>
      <p:ext uri="{BB962C8B-B14F-4D97-AF65-F5344CB8AC3E}">
        <p14:creationId xmlns:p14="http://schemas.microsoft.com/office/powerpoint/2010/main" val="3078724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Good morning everyone we are Team Inspect and upsell and we are here to present you the new frontier of automated Sales</a:t>
            </a:r>
          </a:p>
        </p:txBody>
      </p:sp>
      <p:sp>
        <p:nvSpPr>
          <p:cNvPr id="4" name="Slide Number Placeholder 3"/>
          <p:cNvSpPr>
            <a:spLocks noGrp="1"/>
          </p:cNvSpPr>
          <p:nvPr>
            <p:ph type="sldNum" sz="quarter" idx="5"/>
          </p:nvPr>
        </p:nvSpPr>
        <p:spPr/>
        <p:txBody>
          <a:bodyPr/>
          <a:lstStyle/>
          <a:p>
            <a:fld id="{2FF68C55-1B91-784C-886F-7AD07734CCBB}" type="slidenum">
              <a:rPr lang="en-CH" smtClean="0"/>
              <a:t>1</a:t>
            </a:fld>
            <a:endParaRPr lang="en-CH"/>
          </a:p>
        </p:txBody>
      </p:sp>
    </p:spTree>
    <p:extLst>
      <p:ext uri="{BB962C8B-B14F-4D97-AF65-F5344CB8AC3E}">
        <p14:creationId xmlns:p14="http://schemas.microsoft.com/office/powerpoint/2010/main" val="168898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SIXT automated key pickup, making it faster and cheaper. However, the absence of salespersons caused a direct revenue gap.</a:t>
            </a:r>
            <a:endParaRPr lang="en-CH" dirty="0"/>
          </a:p>
        </p:txBody>
      </p:sp>
      <p:sp>
        <p:nvSpPr>
          <p:cNvPr id="4" name="Slide Number Placeholder 3"/>
          <p:cNvSpPr>
            <a:spLocks noGrp="1"/>
          </p:cNvSpPr>
          <p:nvPr>
            <p:ph type="sldNum" sz="quarter" idx="5"/>
          </p:nvPr>
        </p:nvSpPr>
        <p:spPr/>
        <p:txBody>
          <a:bodyPr/>
          <a:lstStyle/>
          <a:p>
            <a:fld id="{2FF68C55-1B91-784C-886F-7AD07734CCBB}" type="slidenum">
              <a:rPr lang="en-CH" smtClean="0"/>
              <a:t>2</a:t>
            </a:fld>
            <a:endParaRPr lang="en-CH"/>
          </a:p>
        </p:txBody>
      </p:sp>
    </p:spTree>
    <p:extLst>
      <p:ext uri="{BB962C8B-B14F-4D97-AF65-F5344CB8AC3E}">
        <p14:creationId xmlns:p14="http://schemas.microsoft.com/office/powerpoint/2010/main" val="1367815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a:p>
            <a:r>
              <a:rPr lang="en-GB" sz="1200" b="0" i="0" u="none" strike="noStrike" kern="1200" dirty="0">
                <a:solidFill>
                  <a:schemeClr val="tx1"/>
                </a:solidFill>
                <a:effectLst/>
                <a:latin typeface="+mn-lt"/>
                <a:ea typeface="+mn-ea"/>
                <a:cs typeface="+mn-cs"/>
              </a:rPr>
              <a:t>Humans sell better because they read cues, build rapport, and adapt recommendations. Upselling is not rational—it's emotional. No flat UI can replicate this.</a:t>
            </a:r>
          </a:p>
          <a:p>
            <a:endParaRPr lang="en-CH" dirty="0"/>
          </a:p>
          <a:p>
            <a:r>
              <a:rPr lang="en-CH" dirty="0"/>
              <a:t>At the same time buying is not a rationale behaviour. For example we tend to spend more if the selling person is more attractive. That is why we believe that the optimal approach to this task is to keep it as close to what it is as possible. </a:t>
            </a:r>
          </a:p>
        </p:txBody>
      </p:sp>
      <p:sp>
        <p:nvSpPr>
          <p:cNvPr id="4" name="Slide Number Placeholder 3"/>
          <p:cNvSpPr>
            <a:spLocks noGrp="1"/>
          </p:cNvSpPr>
          <p:nvPr>
            <p:ph type="sldNum" sz="quarter" idx="5"/>
          </p:nvPr>
        </p:nvSpPr>
        <p:spPr/>
        <p:txBody>
          <a:bodyPr/>
          <a:lstStyle/>
          <a:p>
            <a:fld id="{2FF68C55-1B91-784C-886F-7AD07734CCBB}" type="slidenum">
              <a:rPr lang="en-CH" smtClean="0"/>
              <a:t>3</a:t>
            </a:fld>
            <a:endParaRPr lang="en-CH"/>
          </a:p>
        </p:txBody>
      </p:sp>
    </p:spTree>
    <p:extLst>
      <p:ext uri="{BB962C8B-B14F-4D97-AF65-F5344CB8AC3E}">
        <p14:creationId xmlns:p14="http://schemas.microsoft.com/office/powerpoint/2010/main" val="2434439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76274-2D2C-9E9C-C6D0-4EFD02375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9AE88-77B0-8994-DC96-91A9DA4A8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9C3F3-6DEF-58D4-99E4-76350C468BBD}"/>
              </a:ext>
            </a:extLst>
          </p:cNvPr>
          <p:cNvSpPr>
            <a:spLocks noGrp="1"/>
          </p:cNvSpPr>
          <p:nvPr>
            <p:ph type="body" idx="1"/>
          </p:nvPr>
        </p:nvSpPr>
        <p:spPr/>
        <p:txBody>
          <a:bodyPr/>
          <a:lstStyle/>
          <a:p>
            <a:endParaRPr lang="en-CH" dirty="0"/>
          </a:p>
          <a:p>
            <a:r>
              <a:rPr lang="en-GB" sz="1200" b="0" i="0" u="none" strike="noStrike" kern="1200" dirty="0">
                <a:solidFill>
                  <a:schemeClr val="tx1"/>
                </a:solidFill>
                <a:effectLst/>
                <a:latin typeface="+mn-lt"/>
                <a:ea typeface="+mn-ea"/>
                <a:cs typeface="+mn-cs"/>
              </a:rPr>
              <a:t>Humans sell better because they read cues, build rapport, and adapt recommendations. Upselling is not rational—it's emotional. No flat UI can replicate this.</a:t>
            </a:r>
          </a:p>
          <a:p>
            <a:endParaRPr lang="en-CH" dirty="0"/>
          </a:p>
          <a:p>
            <a:r>
              <a:rPr lang="en-CH" dirty="0"/>
              <a:t>At the same time buying is not a rationale behaviour. For example we tend to spend more if the selling person is more attractive. That is why we believe that the optimal approach to this task is to keep it as close to what it is as possible. </a:t>
            </a:r>
          </a:p>
        </p:txBody>
      </p:sp>
      <p:sp>
        <p:nvSpPr>
          <p:cNvPr id="4" name="Slide Number Placeholder 3">
            <a:extLst>
              <a:ext uri="{FF2B5EF4-FFF2-40B4-BE49-F238E27FC236}">
                <a16:creationId xmlns:a16="http://schemas.microsoft.com/office/drawing/2014/main" id="{F342FBCC-B69C-6B52-043E-E0A95EFBD11A}"/>
              </a:ext>
            </a:extLst>
          </p:cNvPr>
          <p:cNvSpPr>
            <a:spLocks noGrp="1"/>
          </p:cNvSpPr>
          <p:nvPr>
            <p:ph type="sldNum" sz="quarter" idx="5"/>
          </p:nvPr>
        </p:nvSpPr>
        <p:spPr/>
        <p:txBody>
          <a:bodyPr/>
          <a:lstStyle/>
          <a:p>
            <a:fld id="{2FF68C55-1B91-784C-886F-7AD07734CCBB}" type="slidenum">
              <a:rPr lang="en-CH" smtClean="0"/>
              <a:t>4</a:t>
            </a:fld>
            <a:endParaRPr lang="en-CH"/>
          </a:p>
        </p:txBody>
      </p:sp>
    </p:spTree>
    <p:extLst>
      <p:ext uri="{BB962C8B-B14F-4D97-AF65-F5344CB8AC3E}">
        <p14:creationId xmlns:p14="http://schemas.microsoft.com/office/powerpoint/2010/main" val="3946858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9779-FC87-B392-9720-AC62D6769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B141C-05E6-7F91-9482-C05359DE3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4CD6D-9F35-BF47-0876-DE6306B0A68E}"/>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D53F0925-39D8-30AA-D280-5861F085F886}"/>
              </a:ext>
            </a:extLst>
          </p:cNvPr>
          <p:cNvSpPr>
            <a:spLocks noGrp="1"/>
          </p:cNvSpPr>
          <p:nvPr>
            <p:ph type="sldNum" sz="quarter" idx="5"/>
          </p:nvPr>
        </p:nvSpPr>
        <p:spPr/>
        <p:txBody>
          <a:bodyPr/>
          <a:lstStyle/>
          <a:p>
            <a:fld id="{2FF68C55-1B91-784C-886F-7AD07734CCBB}" type="slidenum">
              <a:rPr lang="en-CH" smtClean="0"/>
              <a:t>5</a:t>
            </a:fld>
            <a:endParaRPr lang="en-CH"/>
          </a:p>
        </p:txBody>
      </p:sp>
    </p:spTree>
    <p:extLst>
      <p:ext uri="{BB962C8B-B14F-4D97-AF65-F5344CB8AC3E}">
        <p14:creationId xmlns:p14="http://schemas.microsoft.com/office/powerpoint/2010/main" val="2054975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8634-84AD-2752-AC8D-B9CFC163E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35689-85F4-0B85-0965-2C911247D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BF15E-6396-42C2-C345-F8A0290ACABF}"/>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16F95A96-7D5A-B695-FBD5-DBAC088EBFB1}"/>
              </a:ext>
            </a:extLst>
          </p:cNvPr>
          <p:cNvSpPr>
            <a:spLocks noGrp="1"/>
          </p:cNvSpPr>
          <p:nvPr>
            <p:ph type="sldNum" sz="quarter" idx="5"/>
          </p:nvPr>
        </p:nvSpPr>
        <p:spPr/>
        <p:txBody>
          <a:bodyPr/>
          <a:lstStyle/>
          <a:p>
            <a:fld id="{2FF68C55-1B91-784C-886F-7AD07734CCBB}" type="slidenum">
              <a:rPr lang="en-CH" smtClean="0"/>
              <a:t>6</a:t>
            </a:fld>
            <a:endParaRPr lang="en-CH"/>
          </a:p>
        </p:txBody>
      </p:sp>
    </p:spTree>
    <p:extLst>
      <p:ext uri="{BB962C8B-B14F-4D97-AF65-F5344CB8AC3E}">
        <p14:creationId xmlns:p14="http://schemas.microsoft.com/office/powerpoint/2010/main" val="4272501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A9C8-1130-E5E3-CF94-9155CAB6A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2B3B7-1C06-3159-1532-A7DF49FEE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6A2D4-ADD9-E3F4-1256-304B935551FF}"/>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42313E84-93E2-791E-F1C5-2252C2DA05E8}"/>
              </a:ext>
            </a:extLst>
          </p:cNvPr>
          <p:cNvSpPr>
            <a:spLocks noGrp="1"/>
          </p:cNvSpPr>
          <p:nvPr>
            <p:ph type="sldNum" sz="quarter" idx="5"/>
          </p:nvPr>
        </p:nvSpPr>
        <p:spPr/>
        <p:txBody>
          <a:bodyPr/>
          <a:lstStyle/>
          <a:p>
            <a:fld id="{2FF68C55-1B91-784C-886F-7AD07734CCBB}" type="slidenum">
              <a:rPr lang="en-CH" smtClean="0"/>
              <a:t>7</a:t>
            </a:fld>
            <a:endParaRPr lang="en-CH"/>
          </a:p>
        </p:txBody>
      </p:sp>
    </p:spTree>
    <p:extLst>
      <p:ext uri="{BB962C8B-B14F-4D97-AF65-F5344CB8AC3E}">
        <p14:creationId xmlns:p14="http://schemas.microsoft.com/office/powerpoint/2010/main" val="1377336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3A0EC-89AE-1DE9-ECAC-D84F59055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4D710-63CC-D35F-54B8-69BF08623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6AA1C-AB46-46F3-0945-53960E9A05AB}"/>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09656F37-9FD5-39E1-9459-21CB5A064934}"/>
              </a:ext>
            </a:extLst>
          </p:cNvPr>
          <p:cNvSpPr>
            <a:spLocks noGrp="1"/>
          </p:cNvSpPr>
          <p:nvPr>
            <p:ph type="sldNum" sz="quarter" idx="5"/>
          </p:nvPr>
        </p:nvSpPr>
        <p:spPr/>
        <p:txBody>
          <a:bodyPr/>
          <a:lstStyle/>
          <a:p>
            <a:fld id="{2FF68C55-1B91-784C-886F-7AD07734CCBB}" type="slidenum">
              <a:rPr lang="en-CH" smtClean="0"/>
              <a:t>8</a:t>
            </a:fld>
            <a:endParaRPr lang="en-CH"/>
          </a:p>
        </p:txBody>
      </p:sp>
    </p:spTree>
    <p:extLst>
      <p:ext uri="{BB962C8B-B14F-4D97-AF65-F5344CB8AC3E}">
        <p14:creationId xmlns:p14="http://schemas.microsoft.com/office/powerpoint/2010/main" val="478303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E67ED-2FB0-F0C6-4505-E15DF5A34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46E6D-16F5-DB25-03D0-12A8989CC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1687A-2617-D68A-47AB-71FBC382F5ED}"/>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622D0239-5391-1A97-2E7E-D86B9ABDABBE}"/>
              </a:ext>
            </a:extLst>
          </p:cNvPr>
          <p:cNvSpPr>
            <a:spLocks noGrp="1"/>
          </p:cNvSpPr>
          <p:nvPr>
            <p:ph type="sldNum" sz="quarter" idx="5"/>
          </p:nvPr>
        </p:nvSpPr>
        <p:spPr/>
        <p:txBody>
          <a:bodyPr/>
          <a:lstStyle/>
          <a:p>
            <a:fld id="{2FF68C55-1B91-784C-886F-7AD07734CCBB}" type="slidenum">
              <a:rPr lang="en-CH" smtClean="0"/>
              <a:t>9</a:t>
            </a:fld>
            <a:endParaRPr lang="en-CH"/>
          </a:p>
        </p:txBody>
      </p:sp>
    </p:spTree>
    <p:extLst>
      <p:ext uri="{BB962C8B-B14F-4D97-AF65-F5344CB8AC3E}">
        <p14:creationId xmlns:p14="http://schemas.microsoft.com/office/powerpoint/2010/main" val="3945041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D454-D882-D9B6-5942-EAAD7347B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00E67-7684-3F26-C698-80126240A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D674A-E030-E720-FE45-FA51132B0BC0}"/>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ECA4C483-49EC-4D8F-4F6D-C7910CDA0B3C}"/>
              </a:ext>
            </a:extLst>
          </p:cNvPr>
          <p:cNvSpPr>
            <a:spLocks noGrp="1"/>
          </p:cNvSpPr>
          <p:nvPr>
            <p:ph type="sldNum" sz="quarter" idx="5"/>
          </p:nvPr>
        </p:nvSpPr>
        <p:spPr/>
        <p:txBody>
          <a:bodyPr/>
          <a:lstStyle/>
          <a:p>
            <a:fld id="{2FF68C55-1B91-784C-886F-7AD07734CCBB}" type="slidenum">
              <a:rPr lang="en-CH" smtClean="0"/>
              <a:t>10</a:t>
            </a:fld>
            <a:endParaRPr lang="en-CH"/>
          </a:p>
        </p:txBody>
      </p:sp>
    </p:spTree>
    <p:extLst>
      <p:ext uri="{BB962C8B-B14F-4D97-AF65-F5344CB8AC3E}">
        <p14:creationId xmlns:p14="http://schemas.microsoft.com/office/powerpoint/2010/main" val="263382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09CB5-F56F-F306-142F-11DE3ABBB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09F6B-FFD5-F517-D8CB-A51E7E59E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E92AC-1040-7359-5435-AA62BEE550C8}"/>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Our goal: restore the persuasive power of a human salesperson, without changing the automated process or adding human </a:t>
            </a:r>
            <a:r>
              <a:rPr lang="en-GB" sz="1200" b="0" i="0" u="none" strike="noStrike" kern="1200" dirty="0" err="1">
                <a:solidFill>
                  <a:schemeClr val="tx1"/>
                </a:solidFill>
                <a:effectLst/>
                <a:latin typeface="+mn-lt"/>
                <a:ea typeface="+mn-ea"/>
                <a:cs typeface="+mn-cs"/>
              </a:rPr>
              <a:t>labor</a:t>
            </a:r>
            <a:r>
              <a:rPr lang="en-GB" sz="1200" b="0" i="0" u="none" strike="noStrike" kern="1200" dirty="0">
                <a:solidFill>
                  <a:schemeClr val="tx1"/>
                </a:solidFill>
                <a:effectLst/>
                <a:latin typeface="+mn-lt"/>
                <a:ea typeface="+mn-ea"/>
                <a:cs typeface="+mn-cs"/>
              </a:rPr>
              <a:t>. </a:t>
            </a:r>
            <a:endParaRPr lang="en-CH" dirty="0"/>
          </a:p>
        </p:txBody>
      </p:sp>
      <p:sp>
        <p:nvSpPr>
          <p:cNvPr id="4" name="Slide Number Placeholder 3">
            <a:extLst>
              <a:ext uri="{FF2B5EF4-FFF2-40B4-BE49-F238E27FC236}">
                <a16:creationId xmlns:a16="http://schemas.microsoft.com/office/drawing/2014/main" id="{55DF6DC7-7FAF-BAAF-6F3A-F82E6D71FB84}"/>
              </a:ext>
            </a:extLst>
          </p:cNvPr>
          <p:cNvSpPr>
            <a:spLocks noGrp="1"/>
          </p:cNvSpPr>
          <p:nvPr>
            <p:ph type="sldNum" sz="quarter" idx="5"/>
          </p:nvPr>
        </p:nvSpPr>
        <p:spPr/>
        <p:txBody>
          <a:bodyPr/>
          <a:lstStyle/>
          <a:p>
            <a:fld id="{2FF68C55-1B91-784C-886F-7AD07734CCBB}" type="slidenum">
              <a:rPr lang="en-CH" smtClean="0"/>
              <a:t>11</a:t>
            </a:fld>
            <a:endParaRPr lang="en-CH"/>
          </a:p>
        </p:txBody>
      </p:sp>
    </p:spTree>
    <p:extLst>
      <p:ext uri="{BB962C8B-B14F-4D97-AF65-F5344CB8AC3E}">
        <p14:creationId xmlns:p14="http://schemas.microsoft.com/office/powerpoint/2010/main" val="2894071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0A1C-BE36-019A-9D76-1A81CEE11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B456D-9378-FF12-2D25-687A78FD9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EC455E-A524-CBB6-3E62-B4830AE3A4F8}"/>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built a digital sales agent—a conversational avatar that replicates the natural sales moment. It talks, listens, personalizes offers, and rebuilds trust inside the automated workflow.</a:t>
            </a:r>
            <a:endParaRPr lang="en-CH" dirty="0"/>
          </a:p>
        </p:txBody>
      </p:sp>
      <p:sp>
        <p:nvSpPr>
          <p:cNvPr id="4" name="Slide Number Placeholder 3">
            <a:extLst>
              <a:ext uri="{FF2B5EF4-FFF2-40B4-BE49-F238E27FC236}">
                <a16:creationId xmlns:a16="http://schemas.microsoft.com/office/drawing/2014/main" id="{BD9F213E-E693-4E67-FA89-D86D6CAA61BD}"/>
              </a:ext>
            </a:extLst>
          </p:cNvPr>
          <p:cNvSpPr>
            <a:spLocks noGrp="1"/>
          </p:cNvSpPr>
          <p:nvPr>
            <p:ph type="sldNum" sz="quarter" idx="5"/>
          </p:nvPr>
        </p:nvSpPr>
        <p:spPr/>
        <p:txBody>
          <a:bodyPr/>
          <a:lstStyle/>
          <a:p>
            <a:fld id="{2FF68C55-1B91-784C-886F-7AD07734CCBB}" type="slidenum">
              <a:rPr lang="en-CH" smtClean="0"/>
              <a:t>12</a:t>
            </a:fld>
            <a:endParaRPr lang="en-CH"/>
          </a:p>
        </p:txBody>
      </p:sp>
    </p:spTree>
    <p:extLst>
      <p:ext uri="{BB962C8B-B14F-4D97-AF65-F5344CB8AC3E}">
        <p14:creationId xmlns:p14="http://schemas.microsoft.com/office/powerpoint/2010/main" val="48556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717B-DEFE-541F-9B71-11F5EC8D4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8DBC8-AF26-5444-92A2-E11553907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12CB5-ABE5-D40D-A88E-FD776CCCBBB3}"/>
              </a:ext>
            </a:extLst>
          </p:cNvPr>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built a digital sales agent—a conversational avatar that replicates the natural sales moment. It talks, listens, personalizes offers, and rebuilds trust inside the automated workflow.</a:t>
            </a:r>
            <a:endParaRPr lang="en-CH" dirty="0"/>
          </a:p>
        </p:txBody>
      </p:sp>
      <p:sp>
        <p:nvSpPr>
          <p:cNvPr id="4" name="Slide Number Placeholder 3">
            <a:extLst>
              <a:ext uri="{FF2B5EF4-FFF2-40B4-BE49-F238E27FC236}">
                <a16:creationId xmlns:a16="http://schemas.microsoft.com/office/drawing/2014/main" id="{ED075208-1797-B731-2839-DFF44EFF44FA}"/>
              </a:ext>
            </a:extLst>
          </p:cNvPr>
          <p:cNvSpPr>
            <a:spLocks noGrp="1"/>
          </p:cNvSpPr>
          <p:nvPr>
            <p:ph type="sldNum" sz="quarter" idx="5"/>
          </p:nvPr>
        </p:nvSpPr>
        <p:spPr/>
        <p:txBody>
          <a:bodyPr/>
          <a:lstStyle/>
          <a:p>
            <a:fld id="{2FF68C55-1B91-784C-886F-7AD07734CCBB}" type="slidenum">
              <a:rPr lang="en-CH" smtClean="0"/>
              <a:t>13</a:t>
            </a:fld>
            <a:endParaRPr lang="en-CH"/>
          </a:p>
        </p:txBody>
      </p:sp>
    </p:spTree>
    <p:extLst>
      <p:ext uri="{BB962C8B-B14F-4D97-AF65-F5344CB8AC3E}">
        <p14:creationId xmlns:p14="http://schemas.microsoft.com/office/powerpoint/2010/main" val="142852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69148-8C8E-CD50-618A-7E7E3831CAF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CH"/>
          </a:p>
        </p:txBody>
      </p:sp>
      <p:sp>
        <p:nvSpPr>
          <p:cNvPr id="3" name="Subtitle 2">
            <a:extLst>
              <a:ext uri="{FF2B5EF4-FFF2-40B4-BE49-F238E27FC236}">
                <a16:creationId xmlns:a16="http://schemas.microsoft.com/office/drawing/2014/main" id="{C5CDA193-1691-E624-AED3-5403024FEE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H"/>
          </a:p>
        </p:txBody>
      </p:sp>
      <p:sp>
        <p:nvSpPr>
          <p:cNvPr id="4" name="Date Placeholder 3">
            <a:extLst>
              <a:ext uri="{FF2B5EF4-FFF2-40B4-BE49-F238E27FC236}">
                <a16:creationId xmlns:a16="http://schemas.microsoft.com/office/drawing/2014/main" id="{964D7393-BF72-0BF1-E6D9-B658153BCCB0}"/>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7328DB1A-A8B9-94B9-B53D-0043FB925928}"/>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800A969-ABBD-3FAD-2AD7-8AFFA156A10F}"/>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948337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D5B1E-23DE-0522-7B48-E3AF958CBDB1}"/>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20B9F1FE-CFCC-ACC2-9591-A58EC509DE6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E5AF62F7-9CC5-A144-CD33-5FD263C73ADC}"/>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7AE04476-53C8-61B9-4D10-4713E3F8CD46}"/>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FF58B0A5-9505-422A-7B1A-27651790E0EC}"/>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3730886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8DDE-CE88-D712-7C04-F83EE9911EF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CH"/>
          </a:p>
        </p:txBody>
      </p:sp>
      <p:sp>
        <p:nvSpPr>
          <p:cNvPr id="3" name="Text Placeholder 2">
            <a:extLst>
              <a:ext uri="{FF2B5EF4-FFF2-40B4-BE49-F238E27FC236}">
                <a16:creationId xmlns:a16="http://schemas.microsoft.com/office/drawing/2014/main" id="{E21074F5-2C98-0C2D-0133-7EC8423CEB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060C365-533D-13D8-660D-6F0BCA4ACEF0}"/>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412BC477-FF61-A260-12B7-4AD22B7B374E}"/>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2B953A04-2955-4258-4B5C-901BC79C7FE0}"/>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3829023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5DDC3-FDA2-0469-E1BF-4B03A051B437}"/>
              </a:ext>
            </a:extLst>
          </p:cNvPr>
          <p:cNvSpPr>
            <a:spLocks noGrp="1"/>
          </p:cNvSpPr>
          <p:nvPr>
            <p:ph type="title"/>
          </p:nvPr>
        </p:nvSpPr>
        <p:spPr/>
        <p:txBody>
          <a:bodyPr/>
          <a:lstStyle/>
          <a:p>
            <a:r>
              <a:rPr lang="en-GB"/>
              <a:t>Click to edit Master title style</a:t>
            </a:r>
            <a:endParaRPr lang="en-CH"/>
          </a:p>
        </p:txBody>
      </p:sp>
      <p:sp>
        <p:nvSpPr>
          <p:cNvPr id="3" name="Content Placeholder 2">
            <a:extLst>
              <a:ext uri="{FF2B5EF4-FFF2-40B4-BE49-F238E27FC236}">
                <a16:creationId xmlns:a16="http://schemas.microsoft.com/office/drawing/2014/main" id="{2E95E5C3-AC40-114F-6A8C-8C6E6FA689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Content Placeholder 3">
            <a:extLst>
              <a:ext uri="{FF2B5EF4-FFF2-40B4-BE49-F238E27FC236}">
                <a16:creationId xmlns:a16="http://schemas.microsoft.com/office/drawing/2014/main" id="{C00B4B96-E14E-0621-0A8F-F899CFD259A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Date Placeholder 4">
            <a:extLst>
              <a:ext uri="{FF2B5EF4-FFF2-40B4-BE49-F238E27FC236}">
                <a16:creationId xmlns:a16="http://schemas.microsoft.com/office/drawing/2014/main" id="{98569185-0976-53E1-2FFC-63F919C4435E}"/>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6" name="Footer Placeholder 5">
            <a:extLst>
              <a:ext uri="{FF2B5EF4-FFF2-40B4-BE49-F238E27FC236}">
                <a16:creationId xmlns:a16="http://schemas.microsoft.com/office/drawing/2014/main" id="{FBBF5CBE-81EE-A953-BADC-5EDDCE108E20}"/>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59033892-9EEB-9E72-839D-A74F9BA7D5D3}"/>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419607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FA1AD-0D99-7EA6-6F4D-217CEBF4E0C3}"/>
              </a:ext>
            </a:extLst>
          </p:cNvPr>
          <p:cNvSpPr>
            <a:spLocks noGrp="1"/>
          </p:cNvSpPr>
          <p:nvPr>
            <p:ph type="title"/>
          </p:nvPr>
        </p:nvSpPr>
        <p:spPr>
          <a:xfrm>
            <a:off x="839788" y="365125"/>
            <a:ext cx="10515600" cy="1325563"/>
          </a:xfrm>
        </p:spPr>
        <p:txBody>
          <a:bodyPr/>
          <a:lstStyle/>
          <a:p>
            <a:r>
              <a:rPr lang="en-GB"/>
              <a:t>Click to edit Master title style</a:t>
            </a:r>
            <a:endParaRPr lang="en-CH"/>
          </a:p>
        </p:txBody>
      </p:sp>
      <p:sp>
        <p:nvSpPr>
          <p:cNvPr id="3" name="Text Placeholder 2">
            <a:extLst>
              <a:ext uri="{FF2B5EF4-FFF2-40B4-BE49-F238E27FC236}">
                <a16:creationId xmlns:a16="http://schemas.microsoft.com/office/drawing/2014/main" id="{A90227E4-E7EB-2D02-C2E8-EEA380A848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B41436-36B9-7675-14AE-1677175DA7D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5" name="Text Placeholder 4">
            <a:extLst>
              <a:ext uri="{FF2B5EF4-FFF2-40B4-BE49-F238E27FC236}">
                <a16:creationId xmlns:a16="http://schemas.microsoft.com/office/drawing/2014/main" id="{6F08F221-AD2E-CDF2-A61B-F859D0D866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BF81315-F77C-D92F-6316-664F56A146D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7" name="Date Placeholder 6">
            <a:extLst>
              <a:ext uri="{FF2B5EF4-FFF2-40B4-BE49-F238E27FC236}">
                <a16:creationId xmlns:a16="http://schemas.microsoft.com/office/drawing/2014/main" id="{CE32DB60-65A5-87AF-3672-233E833F5989}"/>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8" name="Footer Placeholder 7">
            <a:extLst>
              <a:ext uri="{FF2B5EF4-FFF2-40B4-BE49-F238E27FC236}">
                <a16:creationId xmlns:a16="http://schemas.microsoft.com/office/drawing/2014/main" id="{72B060AE-0AF9-DFA8-06A3-0BA53293B454}"/>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AC9989A1-5A87-312C-61C4-59C3A0D0B074}"/>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318503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CB018-D460-081B-F1A4-A4414A2C4B47}"/>
              </a:ext>
            </a:extLst>
          </p:cNvPr>
          <p:cNvSpPr>
            <a:spLocks noGrp="1"/>
          </p:cNvSpPr>
          <p:nvPr>
            <p:ph type="title"/>
          </p:nvPr>
        </p:nvSpPr>
        <p:spPr/>
        <p:txBody>
          <a:bodyPr/>
          <a:lstStyle/>
          <a:p>
            <a:r>
              <a:rPr lang="en-GB"/>
              <a:t>Click to edit Master title style</a:t>
            </a:r>
            <a:endParaRPr lang="en-CH"/>
          </a:p>
        </p:txBody>
      </p:sp>
      <p:sp>
        <p:nvSpPr>
          <p:cNvPr id="3" name="Date Placeholder 2">
            <a:extLst>
              <a:ext uri="{FF2B5EF4-FFF2-40B4-BE49-F238E27FC236}">
                <a16:creationId xmlns:a16="http://schemas.microsoft.com/office/drawing/2014/main" id="{C1962B5C-54DB-C2C3-42BC-B424B5020122}"/>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4" name="Footer Placeholder 3">
            <a:extLst>
              <a:ext uri="{FF2B5EF4-FFF2-40B4-BE49-F238E27FC236}">
                <a16:creationId xmlns:a16="http://schemas.microsoft.com/office/drawing/2014/main" id="{4836D34F-5FC8-D974-B9E8-E660F8364C5B}"/>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8038578B-1952-020A-A121-2FA19051B3A4}"/>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4273332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D3F969-C984-AAB2-EFA2-D390E6DC202A}"/>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3" name="Footer Placeholder 2">
            <a:extLst>
              <a:ext uri="{FF2B5EF4-FFF2-40B4-BE49-F238E27FC236}">
                <a16:creationId xmlns:a16="http://schemas.microsoft.com/office/drawing/2014/main" id="{EE0FDAA5-6DE1-AD79-C545-428C99EA6E5C}"/>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3B314C64-0B0A-67BA-30FE-84968064F659}"/>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78823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6A3CB-F4F7-C442-B4C8-B2C18B4328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Content Placeholder 2">
            <a:extLst>
              <a:ext uri="{FF2B5EF4-FFF2-40B4-BE49-F238E27FC236}">
                <a16:creationId xmlns:a16="http://schemas.microsoft.com/office/drawing/2014/main" id="{78FBF502-DD50-74A7-0F13-75DB4251F7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Text Placeholder 3">
            <a:extLst>
              <a:ext uri="{FF2B5EF4-FFF2-40B4-BE49-F238E27FC236}">
                <a16:creationId xmlns:a16="http://schemas.microsoft.com/office/drawing/2014/main" id="{4E07EA7D-32C0-4716-0209-B28D5D4D8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359463-2346-3B8F-2D04-F65C7DE32A09}"/>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6" name="Footer Placeholder 5">
            <a:extLst>
              <a:ext uri="{FF2B5EF4-FFF2-40B4-BE49-F238E27FC236}">
                <a16:creationId xmlns:a16="http://schemas.microsoft.com/office/drawing/2014/main" id="{3A001F1A-A67C-28C4-4A10-3D2E0DE5C52F}"/>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B4F40FF8-CDDE-AFD6-CEE3-F784738B6799}"/>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400087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4411-6AA9-975C-84BB-9C9CE83B794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CH"/>
          </a:p>
        </p:txBody>
      </p:sp>
      <p:sp>
        <p:nvSpPr>
          <p:cNvPr id="3" name="Picture Placeholder 2">
            <a:extLst>
              <a:ext uri="{FF2B5EF4-FFF2-40B4-BE49-F238E27FC236}">
                <a16:creationId xmlns:a16="http://schemas.microsoft.com/office/drawing/2014/main" id="{414998B6-D887-36BB-7C94-0C1A93762E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8C726393-BD6F-684D-1263-A0B7CEE389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E0B131-A182-9665-DC60-9AF32D223705}"/>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6" name="Footer Placeholder 5">
            <a:extLst>
              <a:ext uri="{FF2B5EF4-FFF2-40B4-BE49-F238E27FC236}">
                <a16:creationId xmlns:a16="http://schemas.microsoft.com/office/drawing/2014/main" id="{89AC3B27-001D-8B99-588C-247CD021E224}"/>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5C4317CB-4E1C-5C72-04E7-4E14EEA2EFAF}"/>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635408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81C9-6226-894B-E9D0-FE5CB64C9C0B}"/>
              </a:ext>
            </a:extLst>
          </p:cNvPr>
          <p:cNvSpPr>
            <a:spLocks noGrp="1"/>
          </p:cNvSpPr>
          <p:nvPr>
            <p:ph type="title"/>
          </p:nvPr>
        </p:nvSpPr>
        <p:spPr/>
        <p:txBody>
          <a:bodyPr/>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6257222F-1640-0D5A-17B8-2C921F81EA8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7603421D-37DE-F9B7-6259-3E130F080FA6}"/>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C4C6C5BE-5A1C-31C3-9FF5-8CB5AF023B57}"/>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99180F06-26F4-53AD-8C89-937487F9D36C}"/>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638902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68749C-DC8B-24F1-D10C-4675872C9D5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CH"/>
          </a:p>
        </p:txBody>
      </p:sp>
      <p:sp>
        <p:nvSpPr>
          <p:cNvPr id="3" name="Vertical Text Placeholder 2">
            <a:extLst>
              <a:ext uri="{FF2B5EF4-FFF2-40B4-BE49-F238E27FC236}">
                <a16:creationId xmlns:a16="http://schemas.microsoft.com/office/drawing/2014/main" id="{2B4A170B-8C54-D0AE-8A12-A27035FCC3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C7B0852C-93E3-CA7B-E41A-4861DEC114A5}"/>
              </a:ext>
            </a:extLst>
          </p:cNvPr>
          <p:cNvSpPr>
            <a:spLocks noGrp="1"/>
          </p:cNvSpPr>
          <p:nvPr>
            <p:ph type="dt" sz="half" idx="10"/>
          </p:nvPr>
        </p:nvSpPr>
        <p:spPr/>
        <p:txBody>
          <a:body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A46284B2-DECA-037C-54BF-D8C7ADF63FE3}"/>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78FB1B31-EA79-BF5A-4206-311E2A16AFBD}"/>
              </a:ext>
            </a:extLst>
          </p:cNvPr>
          <p:cNvSpPr>
            <a:spLocks noGrp="1"/>
          </p:cNvSpPr>
          <p:nvPr>
            <p:ph type="sldNum" sz="quarter" idx="12"/>
          </p:nvPr>
        </p:nvSpPr>
        <p:spPr/>
        <p:txBody>
          <a:bodyPr/>
          <a:lstStyle/>
          <a:p>
            <a:fld id="{7FDCB12F-762D-FE4A-9A6E-A76BDFABCA93}" type="slidenum">
              <a:rPr lang="en-CH" smtClean="0"/>
              <a:t>‹#›</a:t>
            </a:fld>
            <a:endParaRPr lang="en-CH"/>
          </a:p>
        </p:txBody>
      </p:sp>
    </p:spTree>
    <p:extLst>
      <p:ext uri="{BB962C8B-B14F-4D97-AF65-F5344CB8AC3E}">
        <p14:creationId xmlns:p14="http://schemas.microsoft.com/office/powerpoint/2010/main" val="26902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B09E94-4CE8-AD59-1AED-3F9A9CE603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CH"/>
          </a:p>
        </p:txBody>
      </p:sp>
      <p:sp>
        <p:nvSpPr>
          <p:cNvPr id="3" name="Text Placeholder 2">
            <a:extLst>
              <a:ext uri="{FF2B5EF4-FFF2-40B4-BE49-F238E27FC236}">
                <a16:creationId xmlns:a16="http://schemas.microsoft.com/office/drawing/2014/main" id="{9B53E78D-A426-C221-E169-C460145170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4" name="Date Placeholder 3">
            <a:extLst>
              <a:ext uri="{FF2B5EF4-FFF2-40B4-BE49-F238E27FC236}">
                <a16:creationId xmlns:a16="http://schemas.microsoft.com/office/drawing/2014/main" id="{BE268CFD-143E-7646-C220-8C465501BA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986E2D-AA3D-BD41-9560-A3C1DF755C99}" type="datetimeFigureOut">
              <a:rPr lang="en-CH" smtClean="0"/>
              <a:t>22.11.2025</a:t>
            </a:fld>
            <a:endParaRPr lang="en-CH"/>
          </a:p>
        </p:txBody>
      </p:sp>
      <p:sp>
        <p:nvSpPr>
          <p:cNvPr id="5" name="Footer Placeholder 4">
            <a:extLst>
              <a:ext uri="{FF2B5EF4-FFF2-40B4-BE49-F238E27FC236}">
                <a16:creationId xmlns:a16="http://schemas.microsoft.com/office/drawing/2014/main" id="{5E36301E-7DC9-CC8B-1FA5-C25528AE2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D1FC8358-0694-1F66-E938-37A9681FF8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DCB12F-762D-FE4A-9A6E-A76BDFABCA93}" type="slidenum">
              <a:rPr lang="en-CH" smtClean="0"/>
              <a:t>‹#›</a:t>
            </a:fld>
            <a:endParaRPr lang="en-CH"/>
          </a:p>
        </p:txBody>
      </p:sp>
    </p:spTree>
    <p:extLst>
      <p:ext uri="{BB962C8B-B14F-4D97-AF65-F5344CB8AC3E}">
        <p14:creationId xmlns:p14="http://schemas.microsoft.com/office/powerpoint/2010/main" val="2111298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E5F03-E1F0-F63D-F7BB-11082EFEC33F}"/>
              </a:ext>
            </a:extLst>
          </p:cNvPr>
          <p:cNvSpPr>
            <a:spLocks noGrp="1"/>
          </p:cNvSpPr>
          <p:nvPr>
            <p:ph type="ctrTitle"/>
          </p:nvPr>
        </p:nvSpPr>
        <p:spPr>
          <a:xfrm>
            <a:off x="1524000" y="1690890"/>
            <a:ext cx="9144000" cy="2387600"/>
          </a:xfrm>
        </p:spPr>
        <p:txBody>
          <a:bodyPr>
            <a:noAutofit/>
          </a:bodyPr>
          <a:lstStyle/>
          <a:p>
            <a:r>
              <a:rPr lang="en-CH" sz="8300" dirty="0">
                <a:solidFill>
                  <a:srgbClr val="FF5200"/>
                </a:solidFill>
                <a:latin typeface="PT Sans" panose="020B0503020203020204" pitchFamily="34" charset="77"/>
              </a:rPr>
              <a:t>INSPECT &amp; UPSELL</a:t>
            </a:r>
          </a:p>
        </p:txBody>
      </p:sp>
      <p:sp>
        <p:nvSpPr>
          <p:cNvPr id="3" name="Subtitle 2">
            <a:extLst>
              <a:ext uri="{FF2B5EF4-FFF2-40B4-BE49-F238E27FC236}">
                <a16:creationId xmlns:a16="http://schemas.microsoft.com/office/drawing/2014/main" id="{13389DAC-781B-8663-AC5B-DF3D705E91AD}"/>
              </a:ext>
            </a:extLst>
          </p:cNvPr>
          <p:cNvSpPr>
            <a:spLocks noGrp="1"/>
          </p:cNvSpPr>
          <p:nvPr>
            <p:ph type="subTitle" idx="1"/>
          </p:nvPr>
        </p:nvSpPr>
        <p:spPr>
          <a:xfrm>
            <a:off x="1524000" y="4160838"/>
            <a:ext cx="9144000" cy="1655762"/>
          </a:xfrm>
        </p:spPr>
        <p:txBody>
          <a:bodyPr>
            <a:normAutofit/>
          </a:bodyPr>
          <a:lstStyle/>
          <a:p>
            <a:r>
              <a:rPr lang="en-CH" sz="3600" dirty="0">
                <a:solidFill>
                  <a:schemeClr val="bg1"/>
                </a:solidFill>
                <a:latin typeface="PT Sans" panose="020B0503020203020204" pitchFamily="34" charset="77"/>
              </a:rPr>
              <a:t>The new frontier of automated sales</a:t>
            </a:r>
          </a:p>
        </p:txBody>
      </p:sp>
      <p:pic>
        <p:nvPicPr>
          <p:cNvPr id="6" name="Picture 5">
            <a:extLst>
              <a:ext uri="{FF2B5EF4-FFF2-40B4-BE49-F238E27FC236}">
                <a16:creationId xmlns:a16="http://schemas.microsoft.com/office/drawing/2014/main" id="{091F51BB-D3F2-3933-3215-FFEB83C3A7CF}"/>
              </a:ext>
            </a:extLst>
          </p:cNvPr>
          <p:cNvPicPr>
            <a:picLocks noChangeAspect="1"/>
          </p:cNvPicPr>
          <p:nvPr/>
        </p:nvPicPr>
        <p:blipFill>
          <a:blip r:embed="rId3"/>
          <a:stretch>
            <a:fillRect/>
          </a:stretch>
        </p:blipFill>
        <p:spPr>
          <a:xfrm>
            <a:off x="9744316" y="-17058"/>
            <a:ext cx="2447684" cy="1058458"/>
          </a:xfrm>
          <a:prstGeom prst="rect">
            <a:avLst/>
          </a:prstGeom>
        </p:spPr>
      </p:pic>
    </p:spTree>
    <p:extLst>
      <p:ext uri="{BB962C8B-B14F-4D97-AF65-F5344CB8AC3E}">
        <p14:creationId xmlns:p14="http://schemas.microsoft.com/office/powerpoint/2010/main" val="2302448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CE631FF3-DA0E-8375-ECE1-3B1BA6DFB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24802-0B07-A1CF-E153-5B6A28A3D85F}"/>
              </a:ext>
            </a:extLst>
          </p:cNvPr>
          <p:cNvSpPr>
            <a:spLocks noGrp="1"/>
          </p:cNvSpPr>
          <p:nvPr>
            <p:ph type="ctrTitle"/>
          </p:nvPr>
        </p:nvSpPr>
        <p:spPr/>
        <p:txBody>
          <a:bodyPr/>
          <a:lstStyle/>
          <a:p>
            <a:endParaRPr lang="en-CH" dirty="0"/>
          </a:p>
        </p:txBody>
      </p:sp>
      <p:sp>
        <p:nvSpPr>
          <p:cNvPr id="3" name="Subtitle 2">
            <a:extLst>
              <a:ext uri="{FF2B5EF4-FFF2-40B4-BE49-F238E27FC236}">
                <a16:creationId xmlns:a16="http://schemas.microsoft.com/office/drawing/2014/main" id="{8187DDEA-C085-D382-1ACC-A081ED7EA5E5}"/>
              </a:ext>
            </a:extLst>
          </p:cNvPr>
          <p:cNvSpPr>
            <a:spLocks noGrp="1"/>
          </p:cNvSpPr>
          <p:nvPr>
            <p:ph type="subTitle" idx="1"/>
          </p:nvPr>
        </p:nvSpPr>
        <p:spPr/>
        <p:txBody>
          <a:bodyPr/>
          <a:lstStyle/>
          <a:p>
            <a:endParaRPr lang="en-CH"/>
          </a:p>
        </p:txBody>
      </p:sp>
      <p:pic>
        <p:nvPicPr>
          <p:cNvPr id="8" name="Picture 7" descr="A group of people standing outside a building&#10;&#10;AI-generated content may be incorrect.">
            <a:extLst>
              <a:ext uri="{FF2B5EF4-FFF2-40B4-BE49-F238E27FC236}">
                <a16:creationId xmlns:a16="http://schemas.microsoft.com/office/drawing/2014/main" id="{FFA68AF0-5E94-86D2-9A5B-46D5A810838B}"/>
              </a:ext>
            </a:extLst>
          </p:cNvPr>
          <p:cNvPicPr>
            <a:picLocks noChangeAspect="1"/>
          </p:cNvPicPr>
          <p:nvPr/>
        </p:nvPicPr>
        <p:blipFill>
          <a:blip r:embed="rId3"/>
          <a:stretch>
            <a:fillRect/>
          </a:stretch>
        </p:blipFill>
        <p:spPr>
          <a:xfrm>
            <a:off x="-265216" y="-1"/>
            <a:ext cx="12462873" cy="6951945"/>
          </a:xfrm>
          <a:prstGeom prst="rect">
            <a:avLst/>
          </a:prstGeom>
        </p:spPr>
      </p:pic>
      <p:pic>
        <p:nvPicPr>
          <p:cNvPr id="9" name="Picture 8">
            <a:extLst>
              <a:ext uri="{FF2B5EF4-FFF2-40B4-BE49-F238E27FC236}">
                <a16:creationId xmlns:a16="http://schemas.microsoft.com/office/drawing/2014/main" id="{51F8B761-E5E8-73BE-D747-38B72368CDC4}"/>
              </a:ext>
            </a:extLst>
          </p:cNvPr>
          <p:cNvPicPr>
            <a:picLocks noChangeAspect="1"/>
          </p:cNvPicPr>
          <p:nvPr/>
        </p:nvPicPr>
        <p:blipFill>
          <a:blip r:embed="rId4"/>
          <a:stretch>
            <a:fillRect/>
          </a:stretch>
        </p:blipFill>
        <p:spPr>
          <a:xfrm>
            <a:off x="9744316" y="-17058"/>
            <a:ext cx="2447684" cy="1058458"/>
          </a:xfrm>
          <a:prstGeom prst="rect">
            <a:avLst/>
          </a:prstGeom>
        </p:spPr>
      </p:pic>
    </p:spTree>
    <p:extLst>
      <p:ext uri="{BB962C8B-B14F-4D97-AF65-F5344CB8AC3E}">
        <p14:creationId xmlns:p14="http://schemas.microsoft.com/office/powerpoint/2010/main" val="2898218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5D4A20-3EF2-0CF2-B62D-B532E9CB97C1}"/>
              </a:ext>
            </a:extLst>
          </p:cNvPr>
          <p:cNvPicPr>
            <a:picLocks noChangeAspect="1"/>
          </p:cNvPicPr>
          <p:nvPr/>
        </p:nvPicPr>
        <p:blipFill>
          <a:blip r:embed="rId3"/>
          <a:stretch>
            <a:fillRect/>
          </a:stretch>
        </p:blipFill>
        <p:spPr>
          <a:xfrm>
            <a:off x="9744316" y="-17058"/>
            <a:ext cx="2447684" cy="1058458"/>
          </a:xfrm>
          <a:prstGeom prst="rect">
            <a:avLst/>
          </a:prstGeom>
        </p:spPr>
      </p:pic>
      <p:sp>
        <p:nvSpPr>
          <p:cNvPr id="8" name="Content Placeholder 2">
            <a:extLst>
              <a:ext uri="{FF2B5EF4-FFF2-40B4-BE49-F238E27FC236}">
                <a16:creationId xmlns:a16="http://schemas.microsoft.com/office/drawing/2014/main" id="{118AF1A7-25D4-66F2-C1B3-7808470B4E59}"/>
              </a:ext>
            </a:extLst>
          </p:cNvPr>
          <p:cNvSpPr>
            <a:spLocks noGrp="1"/>
          </p:cNvSpPr>
          <p:nvPr>
            <p:ph idx="1"/>
          </p:nvPr>
        </p:nvSpPr>
        <p:spPr>
          <a:xfrm>
            <a:off x="1366902" y="2253483"/>
            <a:ext cx="9458195" cy="3232917"/>
          </a:xfrm>
        </p:spPr>
        <p:txBody>
          <a:bodyPr>
            <a:normAutofit/>
          </a:bodyPr>
          <a:lstStyle/>
          <a:p>
            <a:pPr marL="0" indent="0">
              <a:buNone/>
            </a:pPr>
            <a:r>
              <a:rPr lang="en-CH" dirty="0">
                <a:solidFill>
                  <a:schemeClr val="bg1"/>
                </a:solidFill>
                <a:latin typeface="PT Sans" panose="020B0503020203020204" pitchFamily="34" charset="77"/>
              </a:rPr>
              <a:t>TRUST INCREASES CONVERSION (WARMTH-COMPETENCE)</a:t>
            </a:r>
          </a:p>
          <a:p>
            <a:pPr marL="0" indent="0">
              <a:buNone/>
            </a:pPr>
            <a:endParaRPr lang="en-GB" dirty="0">
              <a:solidFill>
                <a:schemeClr val="bg1"/>
              </a:solidFill>
              <a:latin typeface="PT Sans" panose="020B0503020203020204" pitchFamily="34" charset="77"/>
            </a:endParaRPr>
          </a:p>
          <a:p>
            <a:pPr marL="0" indent="0">
              <a:buNone/>
            </a:pPr>
            <a:r>
              <a:rPr lang="fr-CH" dirty="0">
                <a:solidFill>
                  <a:schemeClr val="bg1"/>
                </a:solidFill>
                <a:latin typeface="PT Sans" panose="020B0503020203020204" pitchFamily="34" charset="77"/>
              </a:rPr>
              <a:t>MORE ATTRACTIVE SALESPERSON MORE SALES</a:t>
            </a:r>
          </a:p>
          <a:p>
            <a:pPr marL="0" indent="0">
              <a:buNone/>
            </a:pPr>
            <a:endParaRPr lang="fr-CH" dirty="0">
              <a:solidFill>
                <a:schemeClr val="bg1"/>
              </a:solidFill>
              <a:latin typeface="PT Sans" panose="020B0503020203020204" pitchFamily="34" charset="77"/>
            </a:endParaRPr>
          </a:p>
          <a:p>
            <a:pPr marL="0" indent="0">
              <a:buNone/>
            </a:pPr>
            <a:r>
              <a:rPr lang="en-GB" dirty="0">
                <a:solidFill>
                  <a:schemeClr val="bg1"/>
                </a:solidFill>
                <a:latin typeface="PT Sans" panose="020B0503020203020204" pitchFamily="34" charset="77"/>
              </a:rPr>
              <a:t>BUYING DECISIONS ARE NOT FULLY RATIONAL, </a:t>
            </a:r>
          </a:p>
          <a:p>
            <a:pPr marL="0" indent="0">
              <a:buNone/>
            </a:pPr>
            <a:r>
              <a:rPr lang="en-GB" dirty="0">
                <a:solidFill>
                  <a:schemeClr val="bg1"/>
                </a:solidFill>
                <a:latin typeface="PT Sans" panose="020B0503020203020204" pitchFamily="34" charset="77"/>
              </a:rPr>
              <a:t>BUT </a:t>
            </a:r>
            <a:r>
              <a:rPr lang="en-GB" b="1" dirty="0">
                <a:solidFill>
                  <a:schemeClr val="bg1"/>
                </a:solidFill>
                <a:latin typeface="PT Sans" panose="020B0503020203020204" pitchFamily="34" charset="77"/>
              </a:rPr>
              <a:t>EMOTIONAL</a:t>
            </a:r>
          </a:p>
          <a:p>
            <a:pPr marL="0" indent="0">
              <a:buNone/>
            </a:pPr>
            <a:endParaRPr lang="fr-CH" dirty="0">
              <a:solidFill>
                <a:schemeClr val="bg1"/>
              </a:solidFill>
              <a:latin typeface="PT Sans" panose="020B0503020203020204" pitchFamily="34" charset="77"/>
            </a:endParaRPr>
          </a:p>
          <a:p>
            <a:pPr marL="0" indent="0">
              <a:buNone/>
            </a:pPr>
            <a:endParaRPr lang="en-CH" dirty="0">
              <a:solidFill>
                <a:schemeClr val="bg1"/>
              </a:solidFill>
              <a:latin typeface="PT Sans" panose="020B0503020203020204" pitchFamily="34" charset="77"/>
            </a:endParaRPr>
          </a:p>
        </p:txBody>
      </p:sp>
      <p:pic>
        <p:nvPicPr>
          <p:cNvPr id="9" name="Picture 2" descr="Harvard Business Review - Wikipedia">
            <a:extLst>
              <a:ext uri="{FF2B5EF4-FFF2-40B4-BE49-F238E27FC236}">
                <a16:creationId xmlns:a16="http://schemas.microsoft.com/office/drawing/2014/main" id="{060BA6EB-64D2-8682-695A-7A766C6758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98171" y="2999721"/>
            <a:ext cx="1257562" cy="125756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CR Long-term Paper Award with JCR - The Sheth Foundation">
            <a:extLst>
              <a:ext uri="{FF2B5EF4-FFF2-40B4-BE49-F238E27FC236}">
                <a16:creationId xmlns:a16="http://schemas.microsoft.com/office/drawing/2014/main" id="{7459CBEA-8EE1-B61A-D2F9-9BC04F9772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5045" y="4204426"/>
            <a:ext cx="2140688" cy="1125588"/>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AE140C4F-BD12-4207-A194-5F24B921F6D1}"/>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WHY? </a:t>
            </a:r>
          </a:p>
        </p:txBody>
      </p:sp>
    </p:spTree>
    <p:extLst>
      <p:ext uri="{BB962C8B-B14F-4D97-AF65-F5344CB8AC3E}">
        <p14:creationId xmlns:p14="http://schemas.microsoft.com/office/powerpoint/2010/main" val="819097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C5C1520F-C512-E178-D3CE-0754AA473C7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0E238A7-DF38-9ABB-2EE3-8A3671FBDE1E}"/>
              </a:ext>
            </a:extLst>
          </p:cNvPr>
          <p:cNvPicPr>
            <a:picLocks noChangeAspect="1"/>
          </p:cNvPicPr>
          <p:nvPr/>
        </p:nvPicPr>
        <p:blipFill>
          <a:blip r:embed="rId3"/>
          <a:stretch>
            <a:fillRect/>
          </a:stretch>
        </p:blipFill>
        <p:spPr>
          <a:xfrm>
            <a:off x="9744316" y="-17058"/>
            <a:ext cx="2447684" cy="1058458"/>
          </a:xfrm>
          <a:prstGeom prst="rect">
            <a:avLst/>
          </a:prstGeom>
        </p:spPr>
      </p:pic>
      <p:pic>
        <p:nvPicPr>
          <p:cNvPr id="6" name="Picture 5">
            <a:extLst>
              <a:ext uri="{FF2B5EF4-FFF2-40B4-BE49-F238E27FC236}">
                <a16:creationId xmlns:a16="http://schemas.microsoft.com/office/drawing/2014/main" id="{AB51BFA3-243E-74B6-2915-3EC6F189601E}"/>
              </a:ext>
            </a:extLst>
          </p:cNvPr>
          <p:cNvPicPr>
            <a:picLocks noChangeAspect="1"/>
          </p:cNvPicPr>
          <p:nvPr/>
        </p:nvPicPr>
        <p:blipFill>
          <a:blip r:embed="rId4"/>
          <a:stretch>
            <a:fillRect/>
          </a:stretch>
        </p:blipFill>
        <p:spPr>
          <a:xfrm>
            <a:off x="830097" y="695195"/>
            <a:ext cx="2538873" cy="5467610"/>
          </a:xfrm>
          <a:prstGeom prst="rect">
            <a:avLst/>
          </a:prstGeom>
        </p:spPr>
      </p:pic>
      <p:pic>
        <p:nvPicPr>
          <p:cNvPr id="7" name="Picture 6">
            <a:extLst>
              <a:ext uri="{FF2B5EF4-FFF2-40B4-BE49-F238E27FC236}">
                <a16:creationId xmlns:a16="http://schemas.microsoft.com/office/drawing/2014/main" id="{18DBEF67-3F30-D2D6-F83B-60D6EE9C9C71}"/>
              </a:ext>
            </a:extLst>
          </p:cNvPr>
          <p:cNvPicPr>
            <a:picLocks noChangeAspect="1"/>
          </p:cNvPicPr>
          <p:nvPr/>
        </p:nvPicPr>
        <p:blipFill>
          <a:blip r:embed="rId5"/>
          <a:stretch>
            <a:fillRect/>
          </a:stretch>
        </p:blipFill>
        <p:spPr>
          <a:xfrm>
            <a:off x="3368970" y="2332691"/>
            <a:ext cx="8055490" cy="2192618"/>
          </a:xfrm>
          <a:prstGeom prst="rect">
            <a:avLst/>
          </a:prstGeom>
        </p:spPr>
      </p:pic>
      <p:sp>
        <p:nvSpPr>
          <p:cNvPr id="9" name="TextBox 8">
            <a:extLst>
              <a:ext uri="{FF2B5EF4-FFF2-40B4-BE49-F238E27FC236}">
                <a16:creationId xmlns:a16="http://schemas.microsoft.com/office/drawing/2014/main" id="{B054F9B4-33AA-329C-F4FD-498252ADC34F}"/>
              </a:ext>
            </a:extLst>
          </p:cNvPr>
          <p:cNvSpPr txBox="1"/>
          <p:nvPr/>
        </p:nvSpPr>
        <p:spPr>
          <a:xfrm rot="-1500000">
            <a:off x="2388960" y="2644169"/>
            <a:ext cx="7414080" cy="1569660"/>
          </a:xfrm>
          <a:prstGeom prst="rect">
            <a:avLst/>
          </a:prstGeom>
          <a:noFill/>
        </p:spPr>
        <p:txBody>
          <a:bodyPr wrap="square">
            <a:spAutoFit/>
          </a:bodyPr>
          <a:lstStyle/>
          <a:p>
            <a:r>
              <a:rPr lang="en-CH" sz="9600" b="1" dirty="0">
                <a:solidFill>
                  <a:srgbClr val="FF5200"/>
                </a:solidFill>
                <a:latin typeface="PT Sans" panose="020B0503020203020204" pitchFamily="34" charset="77"/>
              </a:rPr>
              <a:t>NOT ENOUGH</a:t>
            </a:r>
            <a:endParaRPr lang="en-CH" sz="9600" b="1" dirty="0"/>
          </a:p>
        </p:txBody>
      </p:sp>
    </p:spTree>
    <p:extLst>
      <p:ext uri="{BB962C8B-B14F-4D97-AF65-F5344CB8AC3E}">
        <p14:creationId xmlns:p14="http://schemas.microsoft.com/office/powerpoint/2010/main" val="1054914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B0567ADE-89AB-45F1-AC59-711B87D63A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E1D6A2-B9B1-CDB8-981D-9B7D77319304}"/>
              </a:ext>
            </a:extLst>
          </p:cNvPr>
          <p:cNvPicPr>
            <a:picLocks noChangeAspect="1"/>
          </p:cNvPicPr>
          <p:nvPr/>
        </p:nvPicPr>
        <p:blipFill>
          <a:blip r:embed="rId3"/>
          <a:stretch>
            <a:fillRect/>
          </a:stretch>
        </p:blipFill>
        <p:spPr>
          <a:xfrm>
            <a:off x="9744316" y="-17058"/>
            <a:ext cx="2447684" cy="1058458"/>
          </a:xfrm>
          <a:prstGeom prst="rect">
            <a:avLst/>
          </a:prstGeom>
        </p:spPr>
      </p:pic>
      <p:sp>
        <p:nvSpPr>
          <p:cNvPr id="3" name="Title 1">
            <a:extLst>
              <a:ext uri="{FF2B5EF4-FFF2-40B4-BE49-F238E27FC236}">
                <a16:creationId xmlns:a16="http://schemas.microsoft.com/office/drawing/2014/main" id="{FB633B00-E453-8227-6D2A-042F27BD3213}"/>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Tree>
    <p:extLst>
      <p:ext uri="{BB962C8B-B14F-4D97-AF65-F5344CB8AC3E}">
        <p14:creationId xmlns:p14="http://schemas.microsoft.com/office/powerpoint/2010/main" val="97691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8E25F78C-BA20-2185-CD29-5FF60F35094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4C6EC7-7F93-55D1-139E-40CBAFC62A30}"/>
              </a:ext>
            </a:extLst>
          </p:cNvPr>
          <p:cNvPicPr>
            <a:picLocks noChangeAspect="1"/>
          </p:cNvPicPr>
          <p:nvPr/>
        </p:nvPicPr>
        <p:blipFill>
          <a:blip r:embed="rId3"/>
          <a:stretch>
            <a:fillRect/>
          </a:stretch>
        </p:blipFill>
        <p:spPr>
          <a:xfrm>
            <a:off x="9744316" y="-17058"/>
            <a:ext cx="2447684" cy="1058458"/>
          </a:xfrm>
          <a:prstGeom prst="rect">
            <a:avLst/>
          </a:prstGeom>
        </p:spPr>
      </p:pic>
      <p:sp>
        <p:nvSpPr>
          <p:cNvPr id="3" name="Title 1">
            <a:extLst>
              <a:ext uri="{FF2B5EF4-FFF2-40B4-BE49-F238E27FC236}">
                <a16:creationId xmlns:a16="http://schemas.microsoft.com/office/drawing/2014/main" id="{F64578E0-D691-63E7-E0D3-E4A2AA81CAC2}"/>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
        <p:nvSpPr>
          <p:cNvPr id="12" name="Content Placeholder 2">
            <a:extLst>
              <a:ext uri="{FF2B5EF4-FFF2-40B4-BE49-F238E27FC236}">
                <a16:creationId xmlns:a16="http://schemas.microsoft.com/office/drawing/2014/main" id="{4F06F459-50C6-69E6-08B9-74A50C07CC20}"/>
              </a:ext>
            </a:extLst>
          </p:cNvPr>
          <p:cNvSpPr txBox="1">
            <a:spLocks/>
          </p:cNvSpPr>
          <p:nvPr/>
        </p:nvSpPr>
        <p:spPr>
          <a:xfrm>
            <a:off x="926400" y="1916156"/>
            <a:ext cx="3449875" cy="4259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solidFill>
                <a:latin typeface="PT Sans" panose="020B0503020203020204" pitchFamily="34" charset="77"/>
              </a:rPr>
              <a:t>EMOTIONS</a:t>
            </a:r>
          </a:p>
        </p:txBody>
      </p:sp>
    </p:spTree>
    <p:extLst>
      <p:ext uri="{BB962C8B-B14F-4D97-AF65-F5344CB8AC3E}">
        <p14:creationId xmlns:p14="http://schemas.microsoft.com/office/powerpoint/2010/main" val="73904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1871938C-C809-8798-2688-2D6D0C5DF8B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ED14EC5-EE4A-510B-5FF6-C8D36CD0A2A6}"/>
              </a:ext>
            </a:extLst>
          </p:cNvPr>
          <p:cNvPicPr>
            <a:picLocks noChangeAspect="1"/>
          </p:cNvPicPr>
          <p:nvPr/>
        </p:nvPicPr>
        <p:blipFill>
          <a:blip r:embed="rId3"/>
          <a:stretch>
            <a:fillRect/>
          </a:stretch>
        </p:blipFill>
        <p:spPr>
          <a:xfrm>
            <a:off x="9744316" y="-17058"/>
            <a:ext cx="2447684" cy="1058458"/>
          </a:xfrm>
          <a:prstGeom prst="rect">
            <a:avLst/>
          </a:prstGeom>
        </p:spPr>
      </p:pic>
      <p:sp>
        <p:nvSpPr>
          <p:cNvPr id="3" name="Title 1">
            <a:extLst>
              <a:ext uri="{FF2B5EF4-FFF2-40B4-BE49-F238E27FC236}">
                <a16:creationId xmlns:a16="http://schemas.microsoft.com/office/drawing/2014/main" id="{2C99C752-60D9-C2F9-E835-B52CB9369AFE}"/>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
        <p:nvSpPr>
          <p:cNvPr id="2" name="Content Placeholder 2">
            <a:extLst>
              <a:ext uri="{FF2B5EF4-FFF2-40B4-BE49-F238E27FC236}">
                <a16:creationId xmlns:a16="http://schemas.microsoft.com/office/drawing/2014/main" id="{828F10F0-6819-96CC-4997-AE423A625DCB}"/>
              </a:ext>
            </a:extLst>
          </p:cNvPr>
          <p:cNvSpPr txBox="1">
            <a:spLocks/>
          </p:cNvSpPr>
          <p:nvPr/>
        </p:nvSpPr>
        <p:spPr>
          <a:xfrm>
            <a:off x="926400" y="1916156"/>
            <a:ext cx="3449875" cy="4259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solidFill>
                <a:latin typeface="PT Sans" panose="020B0503020203020204" pitchFamily="34" charset="77"/>
              </a:rPr>
              <a:t>EMOTIONS</a:t>
            </a:r>
          </a:p>
          <a:p>
            <a:pPr marL="0" indent="0">
              <a:buFont typeface="Arial" panose="020B0604020202020204" pitchFamily="34" charset="0"/>
              <a:buNone/>
            </a:pPr>
            <a:r>
              <a:rPr lang="en-CH" dirty="0">
                <a:solidFill>
                  <a:schemeClr val="bg1"/>
                </a:solidFill>
                <a:latin typeface="PT Sans" panose="020B0503020203020204" pitchFamily="34" charset="77"/>
              </a:rPr>
              <a:t> </a:t>
            </a:r>
          </a:p>
          <a:p>
            <a:pPr marL="514350" indent="-514350">
              <a:buFont typeface="+mj-lt"/>
              <a:buAutoNum type="arabicPeriod"/>
            </a:pPr>
            <a:r>
              <a:rPr lang="en-CH" dirty="0">
                <a:solidFill>
                  <a:schemeClr val="bg1"/>
                </a:solidFill>
                <a:latin typeface="PT Sans" panose="020B0503020203020204" pitchFamily="34" charset="77"/>
              </a:rPr>
              <a:t>SEEING</a:t>
            </a:r>
          </a:p>
          <a:p>
            <a:pPr marL="514350" indent="-514350">
              <a:buFont typeface="+mj-lt"/>
              <a:buAutoNum type="arabicPeriod"/>
            </a:pPr>
            <a:endParaRPr lang="en-CH" dirty="0">
              <a:solidFill>
                <a:schemeClr val="bg1"/>
              </a:solidFill>
              <a:latin typeface="PT Sans" panose="020B0503020203020204" pitchFamily="34" charset="77"/>
            </a:endParaRPr>
          </a:p>
          <a:p>
            <a:pPr marL="514350" indent="-514350">
              <a:buFont typeface="+mj-lt"/>
              <a:buAutoNum type="arabicPeriod"/>
            </a:pPr>
            <a:r>
              <a:rPr lang="en-CH" dirty="0">
                <a:solidFill>
                  <a:schemeClr val="bg1"/>
                </a:solidFill>
                <a:latin typeface="PT Sans" panose="020B0503020203020204" pitchFamily="34" charset="77"/>
              </a:rPr>
              <a:t>SPEAKING</a:t>
            </a:r>
          </a:p>
          <a:p>
            <a:pPr marL="514350" indent="-514350">
              <a:buFont typeface="+mj-lt"/>
              <a:buAutoNum type="arabicPeriod"/>
            </a:pPr>
            <a:endParaRPr lang="en-CH" dirty="0">
              <a:solidFill>
                <a:schemeClr val="bg1"/>
              </a:solidFill>
              <a:latin typeface="PT Sans" panose="020B0503020203020204" pitchFamily="34" charset="77"/>
            </a:endParaRPr>
          </a:p>
          <a:p>
            <a:pPr marL="514350" indent="-514350">
              <a:buFont typeface="+mj-lt"/>
              <a:buAutoNum type="arabicPeriod"/>
            </a:pPr>
            <a:r>
              <a:rPr lang="en-CH" dirty="0">
                <a:solidFill>
                  <a:schemeClr val="bg1"/>
                </a:solidFill>
                <a:latin typeface="PT Sans" panose="020B0503020203020204" pitchFamily="34" charset="77"/>
              </a:rPr>
              <a:t>HEARING </a:t>
            </a:r>
          </a:p>
        </p:txBody>
      </p:sp>
    </p:spTree>
    <p:extLst>
      <p:ext uri="{BB962C8B-B14F-4D97-AF65-F5344CB8AC3E}">
        <p14:creationId xmlns:p14="http://schemas.microsoft.com/office/powerpoint/2010/main" val="3404697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59126554-F1BA-8178-ECE7-43B522167E9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25E071E-F888-68B3-16B9-5ADF391EFED1}"/>
              </a:ext>
            </a:extLst>
          </p:cNvPr>
          <p:cNvPicPr>
            <a:picLocks noChangeAspect="1"/>
          </p:cNvPicPr>
          <p:nvPr/>
        </p:nvPicPr>
        <p:blipFill>
          <a:blip r:embed="rId3"/>
          <a:stretch>
            <a:fillRect/>
          </a:stretch>
        </p:blipFill>
        <p:spPr>
          <a:xfrm>
            <a:off x="9744316" y="-17058"/>
            <a:ext cx="2447684" cy="1058458"/>
          </a:xfrm>
          <a:prstGeom prst="rect">
            <a:avLst/>
          </a:prstGeom>
        </p:spPr>
      </p:pic>
      <p:sp>
        <p:nvSpPr>
          <p:cNvPr id="3" name="Title 1">
            <a:extLst>
              <a:ext uri="{FF2B5EF4-FFF2-40B4-BE49-F238E27FC236}">
                <a16:creationId xmlns:a16="http://schemas.microsoft.com/office/drawing/2014/main" id="{129C31D0-3A56-726B-AFA9-76135A5E1A22}"/>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pic>
        <p:nvPicPr>
          <p:cNvPr id="15362" name="Picture 2">
            <a:extLst>
              <a:ext uri="{FF2B5EF4-FFF2-40B4-BE49-F238E27FC236}">
                <a16:creationId xmlns:a16="http://schemas.microsoft.com/office/drawing/2014/main" id="{F52C95AB-8A1D-B174-A3EB-82A120498E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500" r="22020" b="25296"/>
          <a:stretch>
            <a:fillRect/>
          </a:stretch>
        </p:blipFill>
        <p:spPr bwMode="auto">
          <a:xfrm>
            <a:off x="4121064" y="1139869"/>
            <a:ext cx="6764055" cy="512314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AC436E06-E62F-ED15-E7B7-C7DC74122DEA}"/>
              </a:ext>
            </a:extLst>
          </p:cNvPr>
          <p:cNvSpPr txBox="1">
            <a:spLocks/>
          </p:cNvSpPr>
          <p:nvPr/>
        </p:nvSpPr>
        <p:spPr>
          <a:xfrm>
            <a:off x="926400" y="1916156"/>
            <a:ext cx="3449875" cy="4259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solidFill>
                <a:latin typeface="PT Sans" panose="020B0503020203020204" pitchFamily="34" charset="77"/>
              </a:rPr>
              <a:t>EMOTIONS</a:t>
            </a:r>
          </a:p>
          <a:p>
            <a:pPr marL="0" indent="0">
              <a:buFont typeface="Arial" panose="020B0604020202020204" pitchFamily="34" charset="0"/>
              <a:buNone/>
            </a:pPr>
            <a:r>
              <a:rPr lang="en-CH" dirty="0">
                <a:solidFill>
                  <a:schemeClr val="bg1"/>
                </a:solidFill>
                <a:latin typeface="PT Sans" panose="020B0503020203020204" pitchFamily="34" charset="77"/>
              </a:rPr>
              <a:t> </a:t>
            </a:r>
          </a:p>
          <a:p>
            <a:pPr marL="514350" indent="-514350">
              <a:buFont typeface="+mj-lt"/>
              <a:buAutoNum type="arabicPeriod"/>
            </a:pPr>
            <a:r>
              <a:rPr lang="en-CH" dirty="0">
                <a:solidFill>
                  <a:schemeClr val="bg1"/>
                </a:solidFill>
                <a:latin typeface="PT Sans" panose="020B0503020203020204" pitchFamily="34" charset="77"/>
              </a:rPr>
              <a:t>SEEING</a:t>
            </a:r>
          </a:p>
          <a:p>
            <a:pPr marL="514350" indent="-514350">
              <a:buFont typeface="+mj-lt"/>
              <a:buAutoNum type="arabicPeriod"/>
            </a:pPr>
            <a:endParaRPr lang="en-CH" dirty="0">
              <a:solidFill>
                <a:schemeClr val="bg1"/>
              </a:solidFill>
              <a:latin typeface="PT Sans" panose="020B0503020203020204" pitchFamily="34" charset="77"/>
            </a:endParaRPr>
          </a:p>
          <a:p>
            <a:pPr marL="514350" indent="-514350">
              <a:buFont typeface="+mj-lt"/>
              <a:buAutoNum type="arabicPeriod"/>
            </a:pPr>
            <a:r>
              <a:rPr lang="en-CH" dirty="0">
                <a:solidFill>
                  <a:schemeClr val="bg1"/>
                </a:solidFill>
                <a:latin typeface="PT Sans" panose="020B0503020203020204" pitchFamily="34" charset="77"/>
              </a:rPr>
              <a:t>SPEAKING</a:t>
            </a:r>
          </a:p>
          <a:p>
            <a:pPr marL="514350" indent="-514350">
              <a:buFont typeface="+mj-lt"/>
              <a:buAutoNum type="arabicPeriod"/>
            </a:pPr>
            <a:endParaRPr lang="en-CH" dirty="0">
              <a:solidFill>
                <a:schemeClr val="bg1"/>
              </a:solidFill>
              <a:latin typeface="PT Sans" panose="020B0503020203020204" pitchFamily="34" charset="77"/>
            </a:endParaRPr>
          </a:p>
          <a:p>
            <a:pPr marL="514350" indent="-514350">
              <a:buFont typeface="+mj-lt"/>
              <a:buAutoNum type="arabicPeriod"/>
            </a:pPr>
            <a:r>
              <a:rPr lang="en-CH" dirty="0">
                <a:solidFill>
                  <a:schemeClr val="bg1"/>
                </a:solidFill>
                <a:latin typeface="PT Sans" panose="020B0503020203020204" pitchFamily="34" charset="77"/>
              </a:rPr>
              <a:t>HEARING </a:t>
            </a:r>
          </a:p>
        </p:txBody>
      </p:sp>
    </p:spTree>
    <p:extLst>
      <p:ext uri="{BB962C8B-B14F-4D97-AF65-F5344CB8AC3E}">
        <p14:creationId xmlns:p14="http://schemas.microsoft.com/office/powerpoint/2010/main" val="2945552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00EA6131-1E12-D02E-2D39-AB4C92554E2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5570F4B-CF0C-0FFF-1D78-6604E52DD6C9}"/>
              </a:ext>
            </a:extLst>
          </p:cNvPr>
          <p:cNvPicPr>
            <a:picLocks noChangeAspect="1"/>
          </p:cNvPicPr>
          <p:nvPr/>
        </p:nvPicPr>
        <p:blipFill>
          <a:blip r:embed="rId3"/>
          <a:stretch>
            <a:fillRect/>
          </a:stretch>
        </p:blipFill>
        <p:spPr>
          <a:xfrm>
            <a:off x="9744316" y="-17058"/>
            <a:ext cx="2447684" cy="1058458"/>
          </a:xfrm>
          <a:prstGeom prst="rect">
            <a:avLst/>
          </a:prstGeom>
        </p:spPr>
      </p:pic>
      <p:sp>
        <p:nvSpPr>
          <p:cNvPr id="2" name="Content Placeholder 2">
            <a:extLst>
              <a:ext uri="{FF2B5EF4-FFF2-40B4-BE49-F238E27FC236}">
                <a16:creationId xmlns:a16="http://schemas.microsoft.com/office/drawing/2014/main" id="{57467ABF-8100-353E-A031-A4618C957FEE}"/>
              </a:ext>
            </a:extLst>
          </p:cNvPr>
          <p:cNvSpPr>
            <a:spLocks noGrp="1"/>
          </p:cNvSpPr>
          <p:nvPr>
            <p:ph idx="1"/>
          </p:nvPr>
        </p:nvSpPr>
        <p:spPr>
          <a:xfrm>
            <a:off x="568893" y="1325268"/>
            <a:ext cx="2819400" cy="1484521"/>
          </a:xfrm>
        </p:spPr>
        <p:txBody>
          <a:bodyPr>
            <a:normAutofit/>
          </a:bodyPr>
          <a:lstStyle/>
          <a:p>
            <a:pPr marL="0" indent="0" algn="ctr">
              <a:buNone/>
            </a:pPr>
            <a:r>
              <a:rPr lang="en-CH" dirty="0">
                <a:solidFill>
                  <a:schemeClr val="bg1"/>
                </a:solidFill>
                <a:latin typeface="PT Sans" panose="020B0503020203020204" pitchFamily="34" charset="77"/>
              </a:rPr>
              <a:t>GATHER EXTRA INFORMATION AT BOOKING</a:t>
            </a:r>
          </a:p>
        </p:txBody>
      </p:sp>
      <p:sp>
        <p:nvSpPr>
          <p:cNvPr id="3" name="Title 1">
            <a:extLst>
              <a:ext uri="{FF2B5EF4-FFF2-40B4-BE49-F238E27FC236}">
                <a16:creationId xmlns:a16="http://schemas.microsoft.com/office/drawing/2014/main" id="{D5EE759D-FC0A-8032-3CB5-FFBE35C4E233}"/>
              </a:ext>
            </a:extLst>
          </p:cNvPr>
          <p:cNvSpPr>
            <a:spLocks noGrp="1"/>
          </p:cNvSpPr>
          <p:nvPr>
            <p:ph type="title"/>
          </p:nvPr>
        </p:nvSpPr>
        <p:spPr>
          <a:xfrm>
            <a:off x="838200" y="26923"/>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
        <p:nvSpPr>
          <p:cNvPr id="8" name="Content Placeholder 2">
            <a:extLst>
              <a:ext uri="{FF2B5EF4-FFF2-40B4-BE49-F238E27FC236}">
                <a16:creationId xmlns:a16="http://schemas.microsoft.com/office/drawing/2014/main" id="{C31C413F-3A01-F9B2-2006-0DD71339D9CE}"/>
              </a:ext>
            </a:extLst>
          </p:cNvPr>
          <p:cNvSpPr txBox="1">
            <a:spLocks/>
          </p:cNvSpPr>
          <p:nvPr/>
        </p:nvSpPr>
        <p:spPr>
          <a:xfrm>
            <a:off x="431107" y="5473874"/>
            <a:ext cx="3483278" cy="1469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solidFill>
                <a:latin typeface="PT Sans" panose="020B0503020203020204" pitchFamily="34" charset="77"/>
              </a:rPr>
              <a:t>AIM: 130% BUDGET</a:t>
            </a:r>
          </a:p>
        </p:txBody>
      </p:sp>
      <p:pic>
        <p:nvPicPr>
          <p:cNvPr id="16386" name="Picture 2">
            <a:extLst>
              <a:ext uri="{FF2B5EF4-FFF2-40B4-BE49-F238E27FC236}">
                <a16:creationId xmlns:a16="http://schemas.microsoft.com/office/drawing/2014/main" id="{14AB78C1-ED4D-191D-5C36-212595CCBEE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9059"/>
          <a:stretch>
            <a:fillRect/>
          </a:stretch>
        </p:blipFill>
        <p:spPr bwMode="auto">
          <a:xfrm>
            <a:off x="592420" y="2837060"/>
            <a:ext cx="2819400" cy="2532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98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C7EF859D-1204-566F-D964-B3F2CCA870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E7ABAAB-5DE3-2797-1108-E4402ED97339}"/>
              </a:ext>
            </a:extLst>
          </p:cNvPr>
          <p:cNvPicPr>
            <a:picLocks noChangeAspect="1"/>
          </p:cNvPicPr>
          <p:nvPr/>
        </p:nvPicPr>
        <p:blipFill>
          <a:blip r:embed="rId3"/>
          <a:stretch>
            <a:fillRect/>
          </a:stretch>
        </p:blipFill>
        <p:spPr>
          <a:xfrm>
            <a:off x="9744316" y="-17058"/>
            <a:ext cx="2447684" cy="1058458"/>
          </a:xfrm>
          <a:prstGeom prst="rect">
            <a:avLst/>
          </a:prstGeom>
        </p:spPr>
      </p:pic>
      <p:sp>
        <p:nvSpPr>
          <p:cNvPr id="2" name="Content Placeholder 2">
            <a:extLst>
              <a:ext uri="{FF2B5EF4-FFF2-40B4-BE49-F238E27FC236}">
                <a16:creationId xmlns:a16="http://schemas.microsoft.com/office/drawing/2014/main" id="{7F1B7EDB-19FF-7DF3-AA0A-4DC02FE90F01}"/>
              </a:ext>
            </a:extLst>
          </p:cNvPr>
          <p:cNvSpPr>
            <a:spLocks noGrp="1"/>
          </p:cNvSpPr>
          <p:nvPr>
            <p:ph idx="1"/>
          </p:nvPr>
        </p:nvSpPr>
        <p:spPr>
          <a:xfrm>
            <a:off x="568893" y="1325268"/>
            <a:ext cx="2819400" cy="1484521"/>
          </a:xfrm>
        </p:spPr>
        <p:txBody>
          <a:bodyPr>
            <a:normAutofit/>
          </a:bodyPr>
          <a:lstStyle/>
          <a:p>
            <a:pPr marL="0" indent="0" algn="ctr">
              <a:buNone/>
            </a:pPr>
            <a:r>
              <a:rPr lang="en-CH" dirty="0">
                <a:solidFill>
                  <a:schemeClr val="bg1">
                    <a:alpha val="10000"/>
                  </a:schemeClr>
                </a:solidFill>
                <a:latin typeface="PT Sans" panose="020B0503020203020204" pitchFamily="34" charset="77"/>
              </a:rPr>
              <a:t>GATHER EXTRA INFORMATION AT BOOKING</a:t>
            </a:r>
          </a:p>
        </p:txBody>
      </p:sp>
      <p:sp>
        <p:nvSpPr>
          <p:cNvPr id="3" name="Title 1">
            <a:extLst>
              <a:ext uri="{FF2B5EF4-FFF2-40B4-BE49-F238E27FC236}">
                <a16:creationId xmlns:a16="http://schemas.microsoft.com/office/drawing/2014/main" id="{3E091476-33C8-5325-A1D0-F5FAD5349C9F}"/>
              </a:ext>
            </a:extLst>
          </p:cNvPr>
          <p:cNvSpPr>
            <a:spLocks noGrp="1"/>
          </p:cNvSpPr>
          <p:nvPr>
            <p:ph type="title"/>
          </p:nvPr>
        </p:nvSpPr>
        <p:spPr>
          <a:xfrm>
            <a:off x="838200" y="26923"/>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
        <p:nvSpPr>
          <p:cNvPr id="6" name="Content Placeholder 2">
            <a:extLst>
              <a:ext uri="{FF2B5EF4-FFF2-40B4-BE49-F238E27FC236}">
                <a16:creationId xmlns:a16="http://schemas.microsoft.com/office/drawing/2014/main" id="{710AAE7D-0743-A05C-756E-3A434CE62FED}"/>
              </a:ext>
            </a:extLst>
          </p:cNvPr>
          <p:cNvSpPr txBox="1">
            <a:spLocks/>
          </p:cNvSpPr>
          <p:nvPr/>
        </p:nvSpPr>
        <p:spPr>
          <a:xfrm>
            <a:off x="4967615" y="1690688"/>
            <a:ext cx="2819400" cy="148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CH" dirty="0">
              <a:solidFill>
                <a:schemeClr val="bg1"/>
              </a:solidFill>
              <a:latin typeface="PT Sans" panose="020B0503020203020204" pitchFamily="34" charset="77"/>
            </a:endParaRPr>
          </a:p>
        </p:txBody>
      </p:sp>
      <p:sp>
        <p:nvSpPr>
          <p:cNvPr id="7" name="Content Placeholder 2">
            <a:extLst>
              <a:ext uri="{FF2B5EF4-FFF2-40B4-BE49-F238E27FC236}">
                <a16:creationId xmlns:a16="http://schemas.microsoft.com/office/drawing/2014/main" id="{F071F15F-24BD-52CB-0914-C8A40405EAD0}"/>
              </a:ext>
            </a:extLst>
          </p:cNvPr>
          <p:cNvSpPr txBox="1">
            <a:spLocks/>
          </p:cNvSpPr>
          <p:nvPr/>
        </p:nvSpPr>
        <p:spPr>
          <a:xfrm>
            <a:off x="5085045" y="1327433"/>
            <a:ext cx="2021907" cy="148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H" dirty="0">
                <a:solidFill>
                  <a:schemeClr val="bg1"/>
                </a:solidFill>
                <a:latin typeface="PT Sans" panose="020B0503020203020204" pitchFamily="34" charset="77"/>
              </a:rPr>
              <a:t>EXPLOIT SENTIMENT ANALYSIS</a:t>
            </a:r>
          </a:p>
        </p:txBody>
      </p:sp>
      <p:sp>
        <p:nvSpPr>
          <p:cNvPr id="8" name="Content Placeholder 2">
            <a:extLst>
              <a:ext uri="{FF2B5EF4-FFF2-40B4-BE49-F238E27FC236}">
                <a16:creationId xmlns:a16="http://schemas.microsoft.com/office/drawing/2014/main" id="{EC48A962-D94D-8C2D-F858-CD20F51E63DD}"/>
              </a:ext>
            </a:extLst>
          </p:cNvPr>
          <p:cNvSpPr txBox="1">
            <a:spLocks/>
          </p:cNvSpPr>
          <p:nvPr/>
        </p:nvSpPr>
        <p:spPr>
          <a:xfrm>
            <a:off x="431107" y="5473874"/>
            <a:ext cx="3483278" cy="1469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alpha val="10000"/>
                  </a:schemeClr>
                </a:solidFill>
                <a:latin typeface="PT Sans" panose="020B0503020203020204" pitchFamily="34" charset="77"/>
              </a:rPr>
              <a:t>AIM: 130% BUDGET</a:t>
            </a:r>
          </a:p>
        </p:txBody>
      </p:sp>
      <p:pic>
        <p:nvPicPr>
          <p:cNvPr id="16386" name="Picture 2">
            <a:extLst>
              <a:ext uri="{FF2B5EF4-FFF2-40B4-BE49-F238E27FC236}">
                <a16:creationId xmlns:a16="http://schemas.microsoft.com/office/drawing/2014/main" id="{264DB238-6387-CF5B-8CE3-D9D3EA641E2A}"/>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r="19059"/>
          <a:stretch>
            <a:fillRect/>
          </a:stretch>
        </p:blipFill>
        <p:spPr bwMode="auto">
          <a:xfrm>
            <a:off x="592420" y="2837060"/>
            <a:ext cx="2819400" cy="2532169"/>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GitHub - srini047/text-based-sentiment-analysis: Determines sentiment of  the Text as Positive or Negative">
            <a:extLst>
              <a:ext uri="{FF2B5EF4-FFF2-40B4-BE49-F238E27FC236}">
                <a16:creationId xmlns:a16="http://schemas.microsoft.com/office/drawing/2014/main" id="{59838218-B95D-9346-05A0-16870AD30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9363" y="3050002"/>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2333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D02F69E8-8425-A846-11B6-CFC768DAA54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E4F864A-728D-DDA5-EBB3-D5767C8A9FF1}"/>
              </a:ext>
            </a:extLst>
          </p:cNvPr>
          <p:cNvPicPr>
            <a:picLocks noChangeAspect="1"/>
          </p:cNvPicPr>
          <p:nvPr/>
        </p:nvPicPr>
        <p:blipFill>
          <a:blip r:embed="rId3"/>
          <a:stretch>
            <a:fillRect/>
          </a:stretch>
        </p:blipFill>
        <p:spPr>
          <a:xfrm>
            <a:off x="9744316" y="-17058"/>
            <a:ext cx="2447684" cy="1058458"/>
          </a:xfrm>
          <a:prstGeom prst="rect">
            <a:avLst/>
          </a:prstGeom>
        </p:spPr>
      </p:pic>
      <p:sp>
        <p:nvSpPr>
          <p:cNvPr id="2" name="Content Placeholder 2">
            <a:extLst>
              <a:ext uri="{FF2B5EF4-FFF2-40B4-BE49-F238E27FC236}">
                <a16:creationId xmlns:a16="http://schemas.microsoft.com/office/drawing/2014/main" id="{3C782416-A995-B785-D4E7-E3FC7F68B3E3}"/>
              </a:ext>
            </a:extLst>
          </p:cNvPr>
          <p:cNvSpPr>
            <a:spLocks noGrp="1"/>
          </p:cNvSpPr>
          <p:nvPr>
            <p:ph idx="1"/>
          </p:nvPr>
        </p:nvSpPr>
        <p:spPr>
          <a:xfrm>
            <a:off x="568893" y="1325268"/>
            <a:ext cx="2819400" cy="1484521"/>
          </a:xfrm>
        </p:spPr>
        <p:txBody>
          <a:bodyPr>
            <a:normAutofit/>
          </a:bodyPr>
          <a:lstStyle/>
          <a:p>
            <a:pPr marL="0" indent="0" algn="ctr">
              <a:buNone/>
            </a:pPr>
            <a:r>
              <a:rPr lang="en-CH" dirty="0">
                <a:solidFill>
                  <a:schemeClr val="bg1">
                    <a:alpha val="10000"/>
                  </a:schemeClr>
                </a:solidFill>
                <a:latin typeface="PT Sans" panose="020B0503020203020204" pitchFamily="34" charset="77"/>
              </a:rPr>
              <a:t>GATHER EXTRA INFORMATION AT BOOKING</a:t>
            </a:r>
          </a:p>
        </p:txBody>
      </p:sp>
      <p:sp>
        <p:nvSpPr>
          <p:cNvPr id="3" name="Title 1">
            <a:extLst>
              <a:ext uri="{FF2B5EF4-FFF2-40B4-BE49-F238E27FC236}">
                <a16:creationId xmlns:a16="http://schemas.microsoft.com/office/drawing/2014/main" id="{B7B75DFE-60CD-ACB9-59A3-F57835DA5148}"/>
              </a:ext>
            </a:extLst>
          </p:cNvPr>
          <p:cNvSpPr>
            <a:spLocks noGrp="1"/>
          </p:cNvSpPr>
          <p:nvPr>
            <p:ph type="title"/>
          </p:nvPr>
        </p:nvSpPr>
        <p:spPr>
          <a:xfrm>
            <a:off x="838200" y="26923"/>
            <a:ext cx="10515600" cy="1325563"/>
          </a:xfrm>
        </p:spPr>
        <p:txBody>
          <a:bodyPr>
            <a:normAutofit/>
          </a:bodyPr>
          <a:lstStyle/>
          <a:p>
            <a:r>
              <a:rPr lang="en-CH" sz="7200" dirty="0">
                <a:solidFill>
                  <a:schemeClr val="bg1"/>
                </a:solidFill>
                <a:latin typeface="PT Sans" panose="020B0503020203020204" pitchFamily="34" charset="77"/>
                <a:ea typeface="+mn-ea"/>
                <a:cs typeface="+mn-cs"/>
              </a:rPr>
              <a:t>HOW?</a:t>
            </a:r>
          </a:p>
        </p:txBody>
      </p:sp>
      <p:sp>
        <p:nvSpPr>
          <p:cNvPr id="6" name="Content Placeholder 2">
            <a:extLst>
              <a:ext uri="{FF2B5EF4-FFF2-40B4-BE49-F238E27FC236}">
                <a16:creationId xmlns:a16="http://schemas.microsoft.com/office/drawing/2014/main" id="{219B81D6-4CB1-56FF-97E1-530AFD32112C}"/>
              </a:ext>
            </a:extLst>
          </p:cNvPr>
          <p:cNvSpPr txBox="1">
            <a:spLocks/>
          </p:cNvSpPr>
          <p:nvPr/>
        </p:nvSpPr>
        <p:spPr>
          <a:xfrm>
            <a:off x="4967615" y="1690688"/>
            <a:ext cx="2819400" cy="148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CH" dirty="0">
              <a:solidFill>
                <a:schemeClr val="bg1">
                  <a:alpha val="10000"/>
                </a:schemeClr>
              </a:solidFill>
              <a:latin typeface="PT Sans" panose="020B0503020203020204" pitchFamily="34" charset="77"/>
            </a:endParaRPr>
          </a:p>
        </p:txBody>
      </p:sp>
      <p:sp>
        <p:nvSpPr>
          <p:cNvPr id="7" name="Content Placeholder 2">
            <a:extLst>
              <a:ext uri="{FF2B5EF4-FFF2-40B4-BE49-F238E27FC236}">
                <a16:creationId xmlns:a16="http://schemas.microsoft.com/office/drawing/2014/main" id="{A5E7698A-4E79-BC99-6B7A-046FA18D1FF7}"/>
              </a:ext>
            </a:extLst>
          </p:cNvPr>
          <p:cNvSpPr txBox="1">
            <a:spLocks/>
          </p:cNvSpPr>
          <p:nvPr/>
        </p:nvSpPr>
        <p:spPr>
          <a:xfrm>
            <a:off x="5085045" y="1327433"/>
            <a:ext cx="2021907" cy="148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CH" dirty="0">
                <a:solidFill>
                  <a:schemeClr val="bg1">
                    <a:alpha val="10000"/>
                  </a:schemeClr>
                </a:solidFill>
                <a:latin typeface="PT Sans" panose="020B0503020203020204" pitchFamily="34" charset="77"/>
              </a:rPr>
              <a:t>EXPLOIT SENTIMENT ANALYSIS</a:t>
            </a:r>
          </a:p>
        </p:txBody>
      </p:sp>
      <p:sp>
        <p:nvSpPr>
          <p:cNvPr id="5" name="Content Placeholder 2">
            <a:extLst>
              <a:ext uri="{FF2B5EF4-FFF2-40B4-BE49-F238E27FC236}">
                <a16:creationId xmlns:a16="http://schemas.microsoft.com/office/drawing/2014/main" id="{0EEC1783-520F-BAFE-4D67-C3364B98EF4C}"/>
              </a:ext>
            </a:extLst>
          </p:cNvPr>
          <p:cNvSpPr txBox="1">
            <a:spLocks/>
          </p:cNvSpPr>
          <p:nvPr/>
        </p:nvSpPr>
        <p:spPr>
          <a:xfrm>
            <a:off x="9068844" y="1327433"/>
            <a:ext cx="2305309" cy="1484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CH" dirty="0">
                <a:solidFill>
                  <a:schemeClr val="bg1"/>
                </a:solidFill>
                <a:latin typeface="PT Sans" panose="020B0503020203020204" pitchFamily="34" charset="77"/>
              </a:rPr>
              <a:t>HUMAN ASSISTANT IF NEEDED</a:t>
            </a:r>
          </a:p>
        </p:txBody>
      </p:sp>
      <p:sp>
        <p:nvSpPr>
          <p:cNvPr id="8" name="Content Placeholder 2">
            <a:extLst>
              <a:ext uri="{FF2B5EF4-FFF2-40B4-BE49-F238E27FC236}">
                <a16:creationId xmlns:a16="http://schemas.microsoft.com/office/drawing/2014/main" id="{6ACD10B0-1A81-79F3-C263-E2367D36C7E7}"/>
              </a:ext>
            </a:extLst>
          </p:cNvPr>
          <p:cNvSpPr txBox="1">
            <a:spLocks/>
          </p:cNvSpPr>
          <p:nvPr/>
        </p:nvSpPr>
        <p:spPr>
          <a:xfrm>
            <a:off x="431107" y="5473874"/>
            <a:ext cx="3483278" cy="14699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CH" dirty="0">
                <a:solidFill>
                  <a:schemeClr val="bg1">
                    <a:alpha val="10000"/>
                  </a:schemeClr>
                </a:solidFill>
                <a:latin typeface="PT Sans" panose="020B0503020203020204" pitchFamily="34" charset="77"/>
              </a:rPr>
              <a:t>AIM: 130% BUDGET</a:t>
            </a:r>
          </a:p>
        </p:txBody>
      </p:sp>
      <p:pic>
        <p:nvPicPr>
          <p:cNvPr id="16386" name="Picture 2">
            <a:extLst>
              <a:ext uri="{FF2B5EF4-FFF2-40B4-BE49-F238E27FC236}">
                <a16:creationId xmlns:a16="http://schemas.microsoft.com/office/drawing/2014/main" id="{89B91D00-42B3-2602-2802-4C749D3A2D56}"/>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r="19059"/>
          <a:stretch>
            <a:fillRect/>
          </a:stretch>
        </p:blipFill>
        <p:spPr bwMode="auto">
          <a:xfrm>
            <a:off x="592420" y="2837060"/>
            <a:ext cx="2819400" cy="2532169"/>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6+ Thousand Outgoing Phone Call Symbol Royalty-Free Images, Stock Photos &amp;  Pictures | Shutterstock">
            <a:extLst>
              <a:ext uri="{FF2B5EF4-FFF2-40B4-BE49-F238E27FC236}">
                <a16:creationId xmlns:a16="http://schemas.microsoft.com/office/drawing/2014/main" id="{84155957-2644-BA53-6F52-144890B8662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589" t="4648" r="18641" b="10460"/>
          <a:stretch>
            <a:fillRect/>
          </a:stretch>
        </p:blipFill>
        <p:spPr bwMode="auto">
          <a:xfrm>
            <a:off x="8914354" y="2771246"/>
            <a:ext cx="2564184" cy="301877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GitHub - srini047/text-based-sentiment-analysis: Determines sentiment of  the Text as Positive or Negative">
            <a:extLst>
              <a:ext uri="{FF2B5EF4-FFF2-40B4-BE49-F238E27FC236}">
                <a16:creationId xmlns:a16="http://schemas.microsoft.com/office/drawing/2014/main" id="{1C983202-2AE6-17D9-5730-ED404C44BD7F}"/>
              </a:ext>
            </a:extLst>
          </p:cNvPr>
          <p:cNvPicPr>
            <a:picLocks noChangeAspect="1" noChangeArrowheads="1"/>
          </p:cNvPicPr>
          <p:nvPr/>
        </p:nvPicPr>
        <p:blipFill>
          <a:blip r:embed="rId6">
            <a:alphaModFix amt="10000"/>
            <a:extLst>
              <a:ext uri="{28A0092B-C50C-407E-A947-70E740481C1C}">
                <a14:useLocalDpi xmlns:a14="http://schemas.microsoft.com/office/drawing/2010/main" val="0"/>
              </a:ext>
            </a:extLst>
          </a:blip>
          <a:srcRect/>
          <a:stretch>
            <a:fillRect/>
          </a:stretch>
        </p:blipFill>
        <p:spPr bwMode="auto">
          <a:xfrm>
            <a:off x="4429363" y="3050002"/>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097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731BB2CB-051A-773F-AD9E-59580EB8A0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BBC7BA6-EEF8-4AB2-F99D-7875845B7109}"/>
              </a:ext>
            </a:extLst>
          </p:cNvPr>
          <p:cNvPicPr>
            <a:picLocks noChangeAspect="1"/>
          </p:cNvPicPr>
          <p:nvPr/>
        </p:nvPicPr>
        <p:blipFill>
          <a:blip r:embed="rId3"/>
          <a:stretch>
            <a:fillRect/>
          </a:stretch>
        </p:blipFill>
        <p:spPr>
          <a:xfrm>
            <a:off x="9744316" y="-17058"/>
            <a:ext cx="2447684" cy="1058458"/>
          </a:xfrm>
          <a:prstGeom prst="rect">
            <a:avLst/>
          </a:prstGeom>
        </p:spPr>
      </p:pic>
      <p:sp>
        <p:nvSpPr>
          <p:cNvPr id="7" name="TextBox 6">
            <a:extLst>
              <a:ext uri="{FF2B5EF4-FFF2-40B4-BE49-F238E27FC236}">
                <a16:creationId xmlns:a16="http://schemas.microsoft.com/office/drawing/2014/main" id="{0E6208A8-5096-DA37-799B-2E46847E9255}"/>
              </a:ext>
            </a:extLst>
          </p:cNvPr>
          <p:cNvSpPr txBox="1"/>
          <p:nvPr/>
        </p:nvSpPr>
        <p:spPr>
          <a:xfrm>
            <a:off x="3529208" y="2767280"/>
            <a:ext cx="5133583" cy="1323439"/>
          </a:xfrm>
          <a:prstGeom prst="rect">
            <a:avLst/>
          </a:prstGeom>
          <a:noFill/>
        </p:spPr>
        <p:txBody>
          <a:bodyPr wrap="square">
            <a:spAutoFit/>
          </a:bodyPr>
          <a:lstStyle/>
          <a:p>
            <a:r>
              <a:rPr lang="en-CH" sz="8000" dirty="0">
                <a:solidFill>
                  <a:srgbClr val="FF5200"/>
                </a:solidFill>
                <a:latin typeface="PT Sans" panose="020B0503020203020204" pitchFamily="34" charset="77"/>
              </a:rPr>
              <a:t>LIVE DEMO</a:t>
            </a:r>
            <a:endParaRPr lang="en-CH" sz="8000" dirty="0"/>
          </a:p>
        </p:txBody>
      </p:sp>
      <p:sp>
        <p:nvSpPr>
          <p:cNvPr id="8" name="Title 1">
            <a:extLst>
              <a:ext uri="{FF2B5EF4-FFF2-40B4-BE49-F238E27FC236}">
                <a16:creationId xmlns:a16="http://schemas.microsoft.com/office/drawing/2014/main" id="{05A6F415-745F-2FB9-72B0-8BFB736E5B41}"/>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OUR SOLUTION</a:t>
            </a:r>
          </a:p>
        </p:txBody>
      </p:sp>
    </p:spTree>
    <p:extLst>
      <p:ext uri="{BB962C8B-B14F-4D97-AF65-F5344CB8AC3E}">
        <p14:creationId xmlns:p14="http://schemas.microsoft.com/office/powerpoint/2010/main" val="1022930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a:extLst>
            <a:ext uri="{FF2B5EF4-FFF2-40B4-BE49-F238E27FC236}">
              <a16:creationId xmlns:a16="http://schemas.microsoft.com/office/drawing/2014/main" id="{01B91EAD-E715-81F5-0699-41D196D5DE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505D942-9D74-DB57-12DB-0E1FCC9E304E}"/>
              </a:ext>
            </a:extLst>
          </p:cNvPr>
          <p:cNvPicPr>
            <a:picLocks noChangeAspect="1"/>
          </p:cNvPicPr>
          <p:nvPr/>
        </p:nvPicPr>
        <p:blipFill>
          <a:blip r:embed="rId3"/>
          <a:stretch>
            <a:fillRect/>
          </a:stretch>
        </p:blipFill>
        <p:spPr>
          <a:xfrm>
            <a:off x="9744316" y="-17058"/>
            <a:ext cx="2447684" cy="1058458"/>
          </a:xfrm>
          <a:prstGeom prst="rect">
            <a:avLst/>
          </a:prstGeom>
        </p:spPr>
      </p:pic>
      <p:sp>
        <p:nvSpPr>
          <p:cNvPr id="8" name="Title 1">
            <a:extLst>
              <a:ext uri="{FF2B5EF4-FFF2-40B4-BE49-F238E27FC236}">
                <a16:creationId xmlns:a16="http://schemas.microsoft.com/office/drawing/2014/main" id="{D450877D-5F8C-4B4B-5D5B-ED6D4AB5FE9A}"/>
              </a:ext>
            </a:extLst>
          </p:cNvPr>
          <p:cNvSpPr>
            <a:spLocks noGrp="1"/>
          </p:cNvSpPr>
          <p:nvPr>
            <p:ph type="title"/>
          </p:nvPr>
        </p:nvSpPr>
        <p:spPr>
          <a:xfrm>
            <a:off x="838200" y="365125"/>
            <a:ext cx="10515600" cy="1325563"/>
          </a:xfrm>
        </p:spPr>
        <p:txBody>
          <a:bodyPr>
            <a:normAutofit/>
          </a:bodyPr>
          <a:lstStyle/>
          <a:p>
            <a:r>
              <a:rPr lang="en-CH" sz="7200" dirty="0">
                <a:solidFill>
                  <a:schemeClr val="bg1"/>
                </a:solidFill>
                <a:latin typeface="PT Sans" panose="020B0503020203020204" pitchFamily="34" charset="77"/>
                <a:ea typeface="+mn-ea"/>
                <a:cs typeface="+mn-cs"/>
              </a:rPr>
              <a:t>OUR SOLUTION</a:t>
            </a:r>
          </a:p>
        </p:txBody>
      </p:sp>
      <p:pic>
        <p:nvPicPr>
          <p:cNvPr id="24582" name="Picture 6">
            <a:extLst>
              <a:ext uri="{FF2B5EF4-FFF2-40B4-BE49-F238E27FC236}">
                <a16:creationId xmlns:a16="http://schemas.microsoft.com/office/drawing/2014/main" id="{582C6B02-FA91-46DB-1CA3-7D4802D806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7376" y="1690688"/>
            <a:ext cx="8597248" cy="4251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18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227"/>
        </a:solidFill>
        <a:effectLst/>
      </p:bgPr>
    </p:bg>
    <p:spTree>
      <p:nvGrpSpPr>
        <p:cNvPr id="1" name=""/>
        <p:cNvGrpSpPr/>
        <p:nvPr/>
      </p:nvGrpSpPr>
      <p:grpSpPr>
        <a:xfrm>
          <a:off x="0" y="0"/>
          <a:ext cx="0" cy="0"/>
          <a:chOff x="0" y="0"/>
          <a:chExt cx="0" cy="0"/>
        </a:xfrm>
      </p:grpSpPr>
      <p:sp>
        <p:nvSpPr>
          <p:cNvPr id="4" name="Google Shape;393;g2c3ee84ea33_3_0">
            <a:extLst>
              <a:ext uri="{FF2B5EF4-FFF2-40B4-BE49-F238E27FC236}">
                <a16:creationId xmlns:a16="http://schemas.microsoft.com/office/drawing/2014/main" id="{A59490F3-1A04-3BF4-C485-81F56009299A}"/>
              </a:ext>
            </a:extLst>
          </p:cNvPr>
          <p:cNvSpPr txBox="1"/>
          <p:nvPr/>
        </p:nvSpPr>
        <p:spPr>
          <a:xfrm>
            <a:off x="2717899" y="4676167"/>
            <a:ext cx="3201738" cy="888652"/>
          </a:xfrm>
          <a:prstGeom prst="rect">
            <a:avLst/>
          </a:prstGeom>
          <a:noFill/>
          <a:ln>
            <a:noFill/>
          </a:ln>
        </p:spPr>
        <p:txBody>
          <a:bodyPr spcFirstLastPara="1" wrap="square" lIns="91425" tIns="45694" rIns="91425" bIns="45694" anchor="t" anchorCtr="0">
            <a:spAutoFit/>
          </a:bodyPr>
          <a:lstStyle/>
          <a:p>
            <a:pPr algn="ctr">
              <a:lnSpc>
                <a:spcPct val="115000"/>
              </a:lnSpc>
            </a:pPr>
            <a:r>
              <a:rPr lang="de-CH" sz="900" b="1" dirty="0">
                <a:solidFill>
                  <a:schemeClr val="bg1"/>
                </a:solidFill>
                <a:latin typeface="Proxima Nova"/>
                <a:ea typeface="Proxima Nova"/>
                <a:cs typeface="Proxima Nova"/>
                <a:sym typeface="Proxima Nova"/>
              </a:rPr>
              <a:t>Mauro Leidi</a:t>
            </a:r>
            <a:endParaRPr sz="900" b="1" dirty="0">
              <a:solidFill>
                <a:schemeClr val="bg1"/>
              </a:solidFill>
              <a:latin typeface="Proxima Nova"/>
              <a:ea typeface="Proxima Nova"/>
              <a:cs typeface="Proxima Nova"/>
              <a:sym typeface="Proxima Nova"/>
            </a:endParaRPr>
          </a:p>
          <a:p>
            <a:pPr algn="ctr">
              <a:lnSpc>
                <a:spcPct val="115000"/>
              </a:lnSpc>
            </a:pPr>
            <a:endParaRPr sz="900" b="1" dirty="0">
              <a:solidFill>
                <a:schemeClr val="bg1"/>
              </a:solidFill>
              <a:latin typeface="Proxima Nova"/>
              <a:ea typeface="Proxima Nova"/>
              <a:cs typeface="Proxima Nova"/>
              <a:sym typeface="Proxima Nova"/>
            </a:endParaRPr>
          </a:p>
          <a:p>
            <a:pPr algn="ctr">
              <a:lnSpc>
                <a:spcPct val="115000"/>
              </a:lnSpc>
            </a:pPr>
            <a:r>
              <a:rPr lang="de-CH" sz="900" b="1" dirty="0">
                <a:solidFill>
                  <a:schemeClr val="bg1"/>
                </a:solidFill>
                <a:latin typeface="Proxima Nova"/>
                <a:ea typeface="Proxima Nova"/>
                <a:cs typeface="Proxima Nova"/>
                <a:sym typeface="Proxima Nova"/>
              </a:rPr>
              <a:t>PHD Student (EPFL </a:t>
            </a:r>
            <a:r>
              <a:rPr lang="de-CH" sz="900" b="1" dirty="0" err="1">
                <a:solidFill>
                  <a:schemeClr val="bg1"/>
                </a:solidFill>
                <a:latin typeface="Proxima Nova"/>
                <a:ea typeface="Proxima Nova"/>
                <a:cs typeface="Proxima Nova"/>
                <a:sym typeface="Proxima Nova"/>
              </a:rPr>
              <a:t>alumni</a:t>
            </a:r>
            <a:r>
              <a:rPr lang="de-CH" sz="900" b="1" dirty="0">
                <a:solidFill>
                  <a:schemeClr val="bg1"/>
                </a:solidFill>
                <a:latin typeface="Proxima Nova"/>
                <a:ea typeface="Proxima Nova"/>
                <a:cs typeface="Proxima Nova"/>
                <a:sym typeface="Proxima Nova"/>
              </a:rPr>
              <a:t>)</a:t>
            </a:r>
            <a:endParaRPr sz="900" dirty="0">
              <a:solidFill>
                <a:schemeClr val="bg1"/>
              </a:solidFill>
              <a:latin typeface="Proxima Nova"/>
              <a:ea typeface="Proxima Nova"/>
              <a:cs typeface="Proxima Nova"/>
              <a:sym typeface="Proxima Nova"/>
            </a:endParaRPr>
          </a:p>
          <a:p>
            <a:pPr algn="ctr">
              <a:lnSpc>
                <a:spcPct val="115000"/>
              </a:lnSpc>
            </a:pPr>
            <a:endParaRPr sz="900" dirty="0">
              <a:solidFill>
                <a:schemeClr val="bg1"/>
              </a:solidFill>
              <a:latin typeface="Proxima Nova"/>
              <a:ea typeface="Proxima Nova"/>
              <a:cs typeface="Proxima Nova"/>
              <a:sym typeface="Proxima Nova"/>
            </a:endParaRPr>
          </a:p>
          <a:p>
            <a:pPr algn="ctr">
              <a:lnSpc>
                <a:spcPct val="115000"/>
              </a:lnSpc>
            </a:pPr>
            <a:r>
              <a:rPr lang="en-US" sz="900" b="1" dirty="0">
                <a:solidFill>
                  <a:schemeClr val="bg1"/>
                </a:solidFill>
                <a:latin typeface="Proxima Nova"/>
                <a:ea typeface="Proxima Nova"/>
                <a:cs typeface="Proxima Nova"/>
                <a:sym typeface="Proxima Nova"/>
              </a:rPr>
              <a:t>The Sense Research Center</a:t>
            </a:r>
            <a:endParaRPr sz="900" b="1" dirty="0">
              <a:solidFill>
                <a:schemeClr val="bg1"/>
              </a:solidFill>
              <a:latin typeface="Proxima Nova"/>
              <a:ea typeface="Proxima Nova"/>
              <a:cs typeface="Proxima Nova"/>
              <a:sym typeface="Proxima Nova"/>
            </a:endParaRPr>
          </a:p>
        </p:txBody>
      </p:sp>
      <p:sp>
        <p:nvSpPr>
          <p:cNvPr id="5" name="Google Shape;394;g2c3ee84ea33_3_0">
            <a:extLst>
              <a:ext uri="{FF2B5EF4-FFF2-40B4-BE49-F238E27FC236}">
                <a16:creationId xmlns:a16="http://schemas.microsoft.com/office/drawing/2014/main" id="{E64E6A68-2A06-DF92-9128-84A4F400199A}"/>
              </a:ext>
            </a:extLst>
          </p:cNvPr>
          <p:cNvSpPr txBox="1"/>
          <p:nvPr/>
        </p:nvSpPr>
        <p:spPr>
          <a:xfrm>
            <a:off x="6380555" y="4669237"/>
            <a:ext cx="3201738" cy="1047927"/>
          </a:xfrm>
          <a:prstGeom prst="rect">
            <a:avLst/>
          </a:prstGeom>
          <a:noFill/>
          <a:ln>
            <a:noFill/>
          </a:ln>
        </p:spPr>
        <p:txBody>
          <a:bodyPr spcFirstLastPara="1" wrap="square" lIns="91425" tIns="45694" rIns="91425" bIns="45694" anchor="t" anchorCtr="0">
            <a:spAutoFit/>
          </a:bodyPr>
          <a:lstStyle/>
          <a:p>
            <a:pPr algn="ctr">
              <a:lnSpc>
                <a:spcPct val="115000"/>
              </a:lnSpc>
            </a:pPr>
            <a:r>
              <a:rPr lang="de-CH" sz="900" b="1" dirty="0" err="1">
                <a:solidFill>
                  <a:schemeClr val="bg1"/>
                </a:solidFill>
                <a:latin typeface="Proxima Nova"/>
                <a:ea typeface="Proxima Nova"/>
                <a:cs typeface="Proxima Nova"/>
                <a:sym typeface="Proxima Nova"/>
              </a:rPr>
              <a:t>Gioele</a:t>
            </a:r>
            <a:r>
              <a:rPr lang="de-CH" sz="900" b="1" dirty="0">
                <a:solidFill>
                  <a:schemeClr val="bg1"/>
                </a:solidFill>
                <a:latin typeface="Proxima Nova"/>
                <a:ea typeface="Proxima Nova"/>
                <a:cs typeface="Proxima Nova"/>
                <a:sym typeface="Proxima Nova"/>
              </a:rPr>
              <a:t> </a:t>
            </a:r>
            <a:r>
              <a:rPr lang="de-CH" sz="900" b="1" dirty="0" err="1">
                <a:solidFill>
                  <a:schemeClr val="bg1"/>
                </a:solidFill>
                <a:latin typeface="Proxima Nova"/>
                <a:ea typeface="Proxima Nova"/>
                <a:cs typeface="Proxima Nova"/>
                <a:sym typeface="Proxima Nova"/>
              </a:rPr>
              <a:t>Monopoli</a:t>
            </a:r>
            <a:endParaRPr sz="900" b="1" dirty="0">
              <a:solidFill>
                <a:schemeClr val="bg1"/>
              </a:solidFill>
              <a:latin typeface="Proxima Nova"/>
              <a:ea typeface="Proxima Nova"/>
              <a:cs typeface="Proxima Nova"/>
              <a:sym typeface="Proxima Nova"/>
            </a:endParaRPr>
          </a:p>
          <a:p>
            <a:pPr algn="ctr">
              <a:lnSpc>
                <a:spcPct val="115000"/>
              </a:lnSpc>
            </a:pPr>
            <a:endParaRPr sz="900" dirty="0">
              <a:solidFill>
                <a:schemeClr val="bg1"/>
              </a:solidFill>
              <a:latin typeface="Proxima Nova"/>
              <a:ea typeface="Proxima Nova"/>
              <a:cs typeface="Proxima Nova"/>
              <a:sym typeface="Proxima Nova"/>
            </a:endParaRPr>
          </a:p>
          <a:p>
            <a:pPr algn="ctr">
              <a:lnSpc>
                <a:spcPct val="115000"/>
              </a:lnSpc>
            </a:pPr>
            <a:r>
              <a:rPr lang="de-CH" sz="900" b="1" dirty="0" err="1">
                <a:solidFill>
                  <a:schemeClr val="bg1"/>
                </a:solidFill>
                <a:latin typeface="Proxima Nova"/>
                <a:ea typeface="Proxima Nova"/>
                <a:cs typeface="Proxima Nova"/>
                <a:sym typeface="Proxima Nova"/>
              </a:rPr>
              <a:t>Machine</a:t>
            </a:r>
            <a:r>
              <a:rPr lang="de-CH" sz="900" b="1" dirty="0">
                <a:solidFill>
                  <a:schemeClr val="bg1"/>
                </a:solidFill>
                <a:latin typeface="Proxima Nova"/>
                <a:ea typeface="Proxima Nova"/>
                <a:cs typeface="Proxima Nova"/>
                <a:sym typeface="Proxima Nova"/>
              </a:rPr>
              <a:t> Learning Engineer (EPFL </a:t>
            </a:r>
            <a:r>
              <a:rPr lang="de-CH" sz="900" b="1" dirty="0" err="1">
                <a:solidFill>
                  <a:schemeClr val="bg1"/>
                </a:solidFill>
                <a:latin typeface="Proxima Nova"/>
                <a:ea typeface="Proxima Nova"/>
                <a:cs typeface="Proxima Nova"/>
                <a:sym typeface="Proxima Nova"/>
              </a:rPr>
              <a:t>alumni</a:t>
            </a:r>
            <a:r>
              <a:rPr lang="de-CH" sz="900" b="1" dirty="0">
                <a:solidFill>
                  <a:schemeClr val="bg1"/>
                </a:solidFill>
                <a:latin typeface="Proxima Nova"/>
                <a:ea typeface="Proxima Nova"/>
                <a:cs typeface="Proxima Nova"/>
                <a:sym typeface="Proxima Nova"/>
              </a:rPr>
              <a:t>)</a:t>
            </a:r>
            <a:endParaRPr sz="900" b="1" dirty="0">
              <a:solidFill>
                <a:schemeClr val="bg1"/>
              </a:solidFill>
              <a:latin typeface="Proxima Nova"/>
              <a:ea typeface="Proxima Nova"/>
              <a:cs typeface="Proxima Nova"/>
              <a:sym typeface="Proxima Nova"/>
            </a:endParaRPr>
          </a:p>
          <a:p>
            <a:pPr algn="ctr">
              <a:lnSpc>
                <a:spcPct val="115000"/>
              </a:lnSpc>
            </a:pPr>
            <a:endParaRPr sz="900" dirty="0">
              <a:solidFill>
                <a:schemeClr val="bg1"/>
              </a:solidFill>
              <a:latin typeface="Proxima Nova"/>
              <a:ea typeface="Proxima Nova"/>
              <a:cs typeface="Proxima Nova"/>
              <a:sym typeface="Proxima Nova"/>
            </a:endParaRPr>
          </a:p>
          <a:p>
            <a:pPr algn="ctr">
              <a:lnSpc>
                <a:spcPct val="115000"/>
              </a:lnSpc>
            </a:pPr>
            <a:r>
              <a:rPr lang="fr-CH" sz="900" b="1" dirty="0">
                <a:solidFill>
                  <a:schemeClr val="bg1"/>
                </a:solidFill>
                <a:latin typeface="Proxima Nova"/>
                <a:ea typeface="Proxima Nova"/>
                <a:cs typeface="Proxima Nova"/>
                <a:sym typeface="Proxima Nova"/>
              </a:rPr>
              <a:t>German Aerospace Center (DLR)</a:t>
            </a:r>
            <a:endParaRPr sz="900" b="1" dirty="0">
              <a:solidFill>
                <a:schemeClr val="bg1"/>
              </a:solidFill>
              <a:latin typeface="Proxima Nova"/>
              <a:ea typeface="Proxima Nova"/>
              <a:cs typeface="Proxima Nova"/>
              <a:sym typeface="Proxima Nova"/>
            </a:endParaRPr>
          </a:p>
          <a:p>
            <a:pPr algn="ctr">
              <a:lnSpc>
                <a:spcPct val="115000"/>
              </a:lnSpc>
            </a:pPr>
            <a:endParaRPr sz="900" dirty="0">
              <a:solidFill>
                <a:schemeClr val="bg1"/>
              </a:solidFill>
              <a:latin typeface="Proxima Nova"/>
              <a:ea typeface="Proxima Nova"/>
              <a:cs typeface="Proxima Nova"/>
              <a:sym typeface="Proxima Nova"/>
            </a:endParaRPr>
          </a:p>
        </p:txBody>
      </p:sp>
      <p:pic>
        <p:nvPicPr>
          <p:cNvPr id="6" name="Picture 5" descr="A person in a white shirt&#10;&#10;Description automatically generated">
            <a:extLst>
              <a:ext uri="{FF2B5EF4-FFF2-40B4-BE49-F238E27FC236}">
                <a16:creationId xmlns:a16="http://schemas.microsoft.com/office/drawing/2014/main" id="{BAB5168E-8FEC-8EC8-8B69-C97DFAE7457E}"/>
              </a:ext>
            </a:extLst>
          </p:cNvPr>
          <p:cNvPicPr>
            <a:picLocks noChangeAspect="1"/>
          </p:cNvPicPr>
          <p:nvPr/>
        </p:nvPicPr>
        <p:blipFill rotWithShape="1">
          <a:blip r:embed="rId2"/>
          <a:srcRect l="7094" t="9245" r="6498" b="22667"/>
          <a:stretch/>
        </p:blipFill>
        <p:spPr>
          <a:xfrm>
            <a:off x="2993742" y="2199466"/>
            <a:ext cx="2346565" cy="2459068"/>
          </a:xfrm>
          <a:prstGeom prst="ellipse">
            <a:avLst/>
          </a:prstGeom>
        </p:spPr>
      </p:pic>
      <p:pic>
        <p:nvPicPr>
          <p:cNvPr id="7" name="Picture 6" descr="Gioele Monopoli - Stealth Startup | LinkedIn">
            <a:extLst>
              <a:ext uri="{FF2B5EF4-FFF2-40B4-BE49-F238E27FC236}">
                <a16:creationId xmlns:a16="http://schemas.microsoft.com/office/drawing/2014/main" id="{6B0F87ED-BADD-C358-5DA3-F666081D87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110" y="2199466"/>
            <a:ext cx="2459068" cy="2459068"/>
          </a:xfrm>
          <a:prstGeom prst="ellipse">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AFE39A2-BC6A-4DB4-A3B8-5CFE10E81185}"/>
              </a:ext>
            </a:extLst>
          </p:cNvPr>
          <p:cNvSpPr txBox="1"/>
          <p:nvPr/>
        </p:nvSpPr>
        <p:spPr>
          <a:xfrm>
            <a:off x="512672" y="337170"/>
            <a:ext cx="11430216" cy="1015663"/>
          </a:xfrm>
          <a:prstGeom prst="rect">
            <a:avLst/>
          </a:prstGeom>
          <a:noFill/>
        </p:spPr>
        <p:txBody>
          <a:bodyPr wrap="square" rtlCol="0">
            <a:spAutoFit/>
          </a:bodyPr>
          <a:lstStyle/>
          <a:p>
            <a:r>
              <a:rPr lang="en-US" sz="6000" b="1" dirty="0">
                <a:solidFill>
                  <a:srgbClr val="FF5200"/>
                </a:solidFill>
                <a:latin typeface="Bandeins Strange Variable Regular" pitchFamily="2" charset="0"/>
              </a:rPr>
              <a:t>Thank you!</a:t>
            </a:r>
          </a:p>
        </p:txBody>
      </p:sp>
      <p:pic>
        <p:nvPicPr>
          <p:cNvPr id="9" name="Picture 8">
            <a:extLst>
              <a:ext uri="{FF2B5EF4-FFF2-40B4-BE49-F238E27FC236}">
                <a16:creationId xmlns:a16="http://schemas.microsoft.com/office/drawing/2014/main" id="{1FAE908A-5930-1A21-3DAD-82D8377E10DA}"/>
              </a:ext>
            </a:extLst>
          </p:cNvPr>
          <p:cNvPicPr>
            <a:picLocks noChangeAspect="1"/>
          </p:cNvPicPr>
          <p:nvPr/>
        </p:nvPicPr>
        <p:blipFill>
          <a:blip r:embed="rId4"/>
          <a:stretch>
            <a:fillRect/>
          </a:stretch>
        </p:blipFill>
        <p:spPr>
          <a:xfrm>
            <a:off x="9744316" y="-17058"/>
            <a:ext cx="2447684" cy="1058458"/>
          </a:xfrm>
          <a:prstGeom prst="rect">
            <a:avLst/>
          </a:prstGeom>
        </p:spPr>
      </p:pic>
    </p:spTree>
    <p:extLst>
      <p:ext uri="{BB962C8B-B14F-4D97-AF65-F5344CB8AC3E}">
        <p14:creationId xmlns:p14="http://schemas.microsoft.com/office/powerpoint/2010/main" val="1946727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TotalTime>
  <Words>576</Words>
  <Application>Microsoft Macintosh PowerPoint</Application>
  <PresentationFormat>Widescreen</PresentationFormat>
  <Paragraphs>87</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Bandeins Strange Variable Regular</vt:lpstr>
      <vt:lpstr>Proxima Nova</vt:lpstr>
      <vt:lpstr>PT Sans</vt:lpstr>
      <vt:lpstr>Office Theme</vt:lpstr>
      <vt:lpstr>INSPECT &amp; UPSELL</vt:lpstr>
      <vt:lpstr>PowerPoint Presentation</vt:lpstr>
      <vt:lpstr>WHY? </vt:lpstr>
      <vt:lpstr>PowerPoint Presentation</vt:lpstr>
      <vt:lpstr>HOW?</vt:lpstr>
      <vt:lpstr>HOW?</vt:lpstr>
      <vt:lpstr>HOW?</vt:lpstr>
      <vt:lpstr>HOW?</vt:lpstr>
      <vt:lpstr>HOW?</vt:lpstr>
      <vt:lpstr>HOW?</vt:lpstr>
      <vt:lpstr>HOW?</vt:lpstr>
      <vt:lpstr>OUR SOLUTION</vt:lpstr>
      <vt:lpstr>OUR 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Leidi, Mauro Lorenzo Emanuele (STUDENTS)</dc:creator>
  <cp:lastModifiedBy>Leidi, Mauro Lorenzo Emanuele (STUDENTS)</cp:lastModifiedBy>
  <cp:revision>2</cp:revision>
  <dcterms:created xsi:type="dcterms:W3CDTF">2025-11-22T18:15:53Z</dcterms:created>
  <dcterms:modified xsi:type="dcterms:W3CDTF">2025-11-22T23:50:48Z</dcterms:modified>
</cp:coreProperties>
</file>